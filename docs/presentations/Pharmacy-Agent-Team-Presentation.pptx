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0" d="100"/>
          <a:sy n="40" d="100"/>
        </p:scale>
        <p:origin x="8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0461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nch speaker notes">
            <a:extLst>
              <a:ext uri="{FF2B5EF4-FFF2-40B4-BE49-F238E27FC236}">
                <a16:creationId xmlns:a16="http://schemas.microsoft.com/office/drawing/2014/main" id="{B10ABAC3-E9B9-9F99-AEDE-55BC312FA113}"/>
              </a:ext>
            </a:extLst>
          </p:cNvPr>
          <p:cNvSpPr txBox="1"/>
          <p:nvPr/>
        </p:nvSpPr>
        <p:spPr>
          <a:xfrm>
            <a:off x="812800" y="812800"/>
            <a:ext cx="10566399" cy="4952998"/>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14213D"/>
                </a:solidFill>
                <a:latin typeface="Arial"/>
              </a:defRPr>
            </a:pPr>
            <a:r>
              <a:rPr lang="fr-FR" sz="1200" b="0">
                <a:solidFill>
                  <a:srgbClr val="14213D"/>
                </a:solidFill>
                <a:latin typeface="Arial"/>
              </a:rPr>
              <a:t>Bonjour à tous. Nous présentons le Pharmacy Inventory Logistics Agent. Nous sommes trois : Kerrian s'occupe du harnais, moi, Brahim, des instructions et des outils de l'agent, et Emmanuel de la protection contre l'injection. Le magasin CVS sert seulement de contexte : ce n'est pas un partenariat, et nous n'avons pas accès à son vrai inventaire. Toutes les données de test sont synthétiques.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nch speaker notes">
            <a:extLst>
              <a:ext uri="{FF2B5EF4-FFF2-40B4-BE49-F238E27FC236}">
                <a16:creationId xmlns:a16="http://schemas.microsoft.com/office/drawing/2014/main" id="{673147EE-95EA-F3D7-1DFE-2C4130B0DFC8}"/>
              </a:ext>
            </a:extLst>
          </p:cNvPr>
          <p:cNvSpPr txBox="1"/>
          <p:nvPr/>
        </p:nvSpPr>
        <p:spPr>
          <a:xfrm>
            <a:off x="812800" y="812800"/>
            <a:ext cx="10566399" cy="4952998"/>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14213D"/>
                </a:solidFill>
                <a:latin typeface="Arial"/>
              </a:defRPr>
            </a:pPr>
            <a:r>
              <a:rPr lang="fr-FR" sz="1200" b="0">
                <a:solidFill>
                  <a:srgbClr val="14213D"/>
                </a:solidFill>
                <a:latin typeface="Arial"/>
              </a:rPr>
              <a:t>Voici ce que fait l'agent, en six points. Il lit le stock synthétique du magasin 1618. Il estime les jours de stock à partir des 14 derniers jours de consommation. Il compare les faits vérifiés avec la politique du produit. Il garde le contexte national de la FDA séparé du stock local. Il montre les calculs et les incertitudes pour une revue humaine. Et surtout : il ne commande rien et ne modifie rien. C'est le personnel autorisé qui agit, en dehors de l'agent.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nch speaker notes">
            <a:extLst>
              <a:ext uri="{FF2B5EF4-FFF2-40B4-BE49-F238E27FC236}">
                <a16:creationId xmlns:a16="http://schemas.microsoft.com/office/drawing/2014/main" id="{481204A7-A8A0-052B-7FEF-CB8943D86209}"/>
              </a:ext>
            </a:extLst>
          </p:cNvPr>
          <p:cNvSpPr txBox="1"/>
          <p:nvPr/>
        </p:nvSpPr>
        <p:spPr>
          <a:xfrm>
            <a:off x="812800" y="812800"/>
            <a:ext cx="10566399" cy="4952998"/>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14213D"/>
                </a:solidFill>
                <a:latin typeface="Arial"/>
              </a:defRPr>
            </a:pPr>
            <a:r>
              <a:rPr lang="fr-FR" sz="1200" b="0">
                <a:solidFill>
                  <a:srgbClr val="14213D"/>
                </a:solidFill>
                <a:latin typeface="Arial"/>
              </a:rPr>
              <a:t>Voici comment les trois parties s'assemblent. Les données entrent, sont validées, réduites aux faits minimaux, puis passent au modèle. Le modèle ne peut appeler que des outils protégés, et sa réponse est vérifiée avant d'arriver à l'humain. Le tableau montre qui fait quoi : Kerrian Gordon pour le harnais, moi pour les outils et les instructions, Emmanuel De Jesus pour la protection. Ma partie et celle d'Emmanuel sont construites. Le harnais de Kerrian est prévu. La prochaine étape : tout connecter avec une vraie boucle de modèle.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nch speaker notes">
            <a:extLst>
              <a:ext uri="{FF2B5EF4-FFF2-40B4-BE49-F238E27FC236}">
                <a16:creationId xmlns:a16="http://schemas.microsoft.com/office/drawing/2014/main" id="{99E3A741-D4DD-1842-0A66-6C3F34C3FA8C}"/>
              </a:ext>
            </a:extLst>
          </p:cNvPr>
          <p:cNvSpPr txBox="1"/>
          <p:nvPr/>
        </p:nvSpPr>
        <p:spPr>
          <a:xfrm>
            <a:off x="812800" y="812800"/>
            <a:ext cx="10566399" cy="4952998"/>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14213D"/>
                </a:solidFill>
                <a:latin typeface="Arial"/>
              </a:defRPr>
            </a:pPr>
            <a:r>
              <a:rPr lang="fr-FR" sz="1200" b="0">
                <a:solidFill>
                  <a:srgbClr val="14213D"/>
                </a:solidFill>
                <a:latin typeface="Arial"/>
              </a:rPr>
              <a:t>Ma partie, d'abord les deux outils, tous les deux en lecture seule. Le premier lit l'inventaire du magasin 1618, et seulement celui-là. Ses 20 lignes synthétiques testent chaque règle du PRD. Le deuxième interroge la vraie API de la FDA. Chaque réponse reçoit une étiquette claire. Une panne ou une absence de résultat ne veut jamais dire "pas de pénurie".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nch speaker notes">
            <a:extLst>
              <a:ext uri="{FF2B5EF4-FFF2-40B4-BE49-F238E27FC236}">
                <a16:creationId xmlns:a16="http://schemas.microsoft.com/office/drawing/2014/main" id="{F3F22BD7-3169-6B1D-5871-DA75275F322A}"/>
              </a:ext>
            </a:extLst>
          </p:cNvPr>
          <p:cNvSpPr txBox="1"/>
          <p:nvPr/>
        </p:nvSpPr>
        <p:spPr>
          <a:xfrm>
            <a:off x="812800" y="812800"/>
            <a:ext cx="10566399" cy="4952998"/>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14213D"/>
                </a:solidFill>
                <a:latin typeface="Arial"/>
              </a:defRPr>
            </a:pPr>
            <a:r>
              <a:rPr lang="fr-FR" sz="1200" b="0">
                <a:solidFill>
                  <a:srgbClr val="14213D"/>
                </a:solidFill>
                <a:latin typeface="Arial"/>
              </a:rPr>
              <a:t>Voici la découverte la plus importante du test réel. Le même médicament, écrit avec un format un peu différent, donne "aucun résultat". Sans protection, l'agent aurait dit "pas de pénurie" pour un médicament en pénurie. Donc mon outil refuse les NDC mal formés avant d'appeler l'API, et une requête de contrôle vérifie que la connexion marche.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nch speaker notes">
            <a:extLst>
              <a:ext uri="{FF2B5EF4-FFF2-40B4-BE49-F238E27FC236}">
                <a16:creationId xmlns:a16="http://schemas.microsoft.com/office/drawing/2014/main" id="{77FCE7B7-5095-08F6-940C-A3A6ED78087A}"/>
              </a:ext>
            </a:extLst>
          </p:cNvPr>
          <p:cNvSpPr txBox="1"/>
          <p:nvPr/>
        </p:nvSpPr>
        <p:spPr>
          <a:xfrm>
            <a:off x="812800" y="812800"/>
            <a:ext cx="10566399" cy="4952998"/>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14213D"/>
                </a:solidFill>
                <a:latin typeface="Arial"/>
              </a:defRPr>
            </a:pPr>
            <a:r>
              <a:rPr lang="fr-FR" sz="1200" b="0">
                <a:solidFill>
                  <a:srgbClr val="14213D"/>
                </a:solidFill>
                <a:latin typeface="Arial"/>
              </a:rPr>
              <a:t>Ensuite, mon prompt système. Le modèle ne calcule rien : il recopie les faits dans un rapport JSON exact. S'il invente un chiffre, sa réponse est rejetée. En bas, la règle qu'on a ajoutée au PRD en version 0.2, maintenant testée : si la FDA ne répond pas, un médicament au-dessus du seuil reste en MAINTAIN, mais avec cette alerte. La phrase est écrite par le code, donc le modèle ne peut pas l'oublier.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nch speaker notes">
            <a:extLst>
              <a:ext uri="{FF2B5EF4-FFF2-40B4-BE49-F238E27FC236}">
                <a16:creationId xmlns:a16="http://schemas.microsoft.com/office/drawing/2014/main" id="{FA30CEF3-BEC4-1486-0EF5-FD014280C199}"/>
              </a:ext>
            </a:extLst>
          </p:cNvPr>
          <p:cNvSpPr txBox="1"/>
          <p:nvPr/>
        </p:nvSpPr>
        <p:spPr>
          <a:xfrm>
            <a:off x="812800" y="812800"/>
            <a:ext cx="10566399" cy="4952998"/>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14213D"/>
                </a:solidFill>
                <a:latin typeface="Arial"/>
              </a:defRPr>
            </a:pPr>
            <a:r>
              <a:rPr lang="fr-FR" sz="1200" b="0">
                <a:solidFill>
                  <a:srgbClr val="14213D"/>
                </a:solidFill>
                <a:latin typeface="Arial"/>
              </a:rPr>
              <a:t>Maintenant, la partie d'Emmanuel : la protection contre l'injection. Cinq contrôles, un à chaque étape : l'entrée, le contexte, les preuves, les actions et la sortie. Il a aussi construit un testeur local : on peut essayer une commande interdite, mettre le stock à 999 ou cacher un avertissement, et voir les vrais contrôles Python répondre. Attention : la détection peut manquer certaines formulations ; c'est pour ça que tout le texte externe est quand même exclu.</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nch speaker notes">
            <a:extLst>
              <a:ext uri="{FF2B5EF4-FFF2-40B4-BE49-F238E27FC236}">
                <a16:creationId xmlns:a16="http://schemas.microsoft.com/office/drawing/2014/main" id="{601A0F59-9B46-A2A7-EA86-CA305F884721}"/>
              </a:ext>
            </a:extLst>
          </p:cNvPr>
          <p:cNvSpPr txBox="1"/>
          <p:nvPr/>
        </p:nvSpPr>
        <p:spPr>
          <a:xfrm>
            <a:off x="812800" y="812800"/>
            <a:ext cx="10566399" cy="4952998"/>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14213D"/>
                </a:solidFill>
                <a:latin typeface="Arial"/>
              </a:defRPr>
            </a:pPr>
            <a:r>
              <a:rPr lang="fr-FR" sz="1200" b="0">
                <a:solidFill>
                  <a:srgbClr val="14213D"/>
                </a:solidFill>
                <a:latin typeface="Arial"/>
              </a:rPr>
              <a:t>Voici les attaques testées par Emmanuel et ce qui s'est passé : caractères cachés, faux rôles, JSON cassé, commandes interdites, mauvais magasin, et un modèle qui change le stock à 999. À chaque fois, c'est refusé ou remplacé par un résultat sûr. Emmanuel reste honnête : réussir ces tests ne prouve pas que toutes les attaques futures seront détectées.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nch speaker notes">
            <a:extLst>
              <a:ext uri="{FF2B5EF4-FFF2-40B4-BE49-F238E27FC236}">
                <a16:creationId xmlns:a16="http://schemas.microsoft.com/office/drawing/2014/main" id="{1F444222-D9FB-F793-A4FE-19DA9F3649FD}"/>
              </a:ext>
            </a:extLst>
          </p:cNvPr>
          <p:cNvSpPr txBox="1"/>
          <p:nvPr/>
        </p:nvSpPr>
        <p:spPr>
          <a:xfrm>
            <a:off x="812800" y="812800"/>
            <a:ext cx="10566399" cy="4952998"/>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14213D"/>
                </a:solidFill>
                <a:latin typeface="Arial"/>
              </a:defRPr>
            </a:pPr>
            <a:r>
              <a:rPr lang="fr-FR" sz="1200" b="0">
                <a:solidFill>
                  <a:srgbClr val="14213D"/>
                </a:solidFill>
                <a:latin typeface="Arial"/>
              </a:rPr>
              <a:t>Les preuves : 94 tests passent dans tout le projet. Sur les 85 cas de test d'Emmanuel, tous les résultats correspondent : 55 attaques détectées, 30 textes normaux acceptés, et aucune erreur. Ce sont des résultats sur les cas testés, pas une garantie contre toutes les attaques. Les prochaines étapes : connecter le harnais, les outils et les protections avec une vraie boucle de modèle, puis tester les trois cas de l'Eval Card de bout en bout.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nch speaker notes">
            <a:extLst>
              <a:ext uri="{FF2B5EF4-FFF2-40B4-BE49-F238E27FC236}">
                <a16:creationId xmlns:a16="http://schemas.microsoft.com/office/drawing/2014/main" id="{B166B347-7311-A146-7935-FF86B28D03E9}"/>
              </a:ext>
            </a:extLst>
          </p:cNvPr>
          <p:cNvSpPr txBox="1"/>
          <p:nvPr/>
        </p:nvSpPr>
        <p:spPr>
          <a:xfrm>
            <a:off x="812800" y="812800"/>
            <a:ext cx="10566399" cy="4952998"/>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14213D"/>
                </a:solidFill>
                <a:latin typeface="Arial"/>
              </a:defRPr>
            </a:pPr>
            <a:r>
              <a:rPr lang="fr-FR" sz="1200" b="0">
                <a:solidFill>
                  <a:srgbClr val="14213D"/>
                </a:solidFill>
                <a:latin typeface="Arial"/>
              </a:rPr>
              <a:t>Pour conclure, en trois points. Ce que nous avons construit : deux outils en lecture seule, un prompt système strict et cinq contrôles contre l'injection, tous testés sur des données synthétiques. Ce que nous avons appris : il faut tester les outils pour de vrai ; une panne ou une absence de résultat ne veut jamais dire "pas de pénurie" ; et les règles de sécurité doivent être dans le code, pas seulement dans le prompt. La suite : connecter le harnais, tester les trois cas de l'Eval Card de bout en bout, et n'utiliser de vraies données qu'après approbation. Merci ! Avez-vous des questions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940D9-9878-5454-9F24-FBC8B8597C5A}"/>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6CFCF9-139B-DC6C-3372-2EC546A8F196}"/>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964753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122DE-F32C-6941-8B7B-E28ED4A243B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299C73C-31CC-412F-E892-2A7BD62D24B6}"/>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596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E21DA-E4CA-1A81-BEC3-1984580D488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B3166A-0855-92CB-75DE-E6F2C4CBA3C9}"/>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3606346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1CCDD-ECDF-CCF1-82BF-92926475284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757A1514-4F8C-B7F5-D2FD-7BBF1DDC1FA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B3E721-233D-2772-595D-C87F65F937F1}"/>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4391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39690-3EA0-D9D7-9F6F-DF73438F3AE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E651173-E445-1EDB-0374-BA1E19AFA43C}"/>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2A5DCA-22AC-CDFF-E10B-1D4315F2E861}"/>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B30262-8317-2050-636E-D70FF0F92CE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9B96F6-7FB0-322F-290F-45E17617260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031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78AC3-A391-17D0-B3F0-ED8D0D34B73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40538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12162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76B67-C10B-95E5-2569-90C88C4D8A2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009EB6-45BC-61BA-F6B5-9F1E020670C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3ED1F2-33F3-5858-41B1-4CB04C52164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173530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60989-95DB-0851-8489-55B3FD43BB19}"/>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BBEF97-BA4E-87B3-3291-35F0822BBBCC}"/>
              </a:ext>
            </a:extLst>
          </p:cNvPr>
          <p:cNvSpPr>
            <a:spLocks noGrp="1" noChangeAspect="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9656F7-C84B-769A-BBE6-9377AAC8DBE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015727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35315-5ACE-5F73-9059-93238B363BC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6D6D8E-B863-1C48-F1A7-AF8847C003A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420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C06C47-280A-88B5-FB9F-C9D4B9133F16}"/>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B0C217-DF69-5FCE-2013-331901E467E4}"/>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03851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cover">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A4374C85-0490-56B0-25B5-47E59CF8A345}"/>
              </a:ext>
            </a:extLst>
          </p:cNvPr>
          <p:cNvSpPr txBox="1"/>
          <p:nvPr/>
        </p:nvSpPr>
        <p:spPr>
          <a:xfrm>
            <a:off x="0" y="0"/>
            <a:ext cx="12192001" cy="6858000"/>
          </a:xfrm>
          <a:prstGeom prst="rect">
            <a:avLst/>
          </a:prstGeom>
          <a:solidFill>
            <a:srgbClr val="14213D"/>
          </a:solidFill>
          <a:ln>
            <a:noFill/>
          </a:ln>
        </p:spPr>
        <p:txBody>
          <a:bodyPr lIns="0" tIns="0" rIns="0" bIns="0"/>
          <a:lstStyle/>
          <a:p>
            <a:endParaRPr lang="en-US"/>
          </a:p>
        </p:txBody>
      </p:sp>
      <p:sp>
        <p:nvSpPr>
          <p:cNvPr id="3" name="PHARMACY-AGENT · PURSUIT L2">
            <a:extLst>
              <a:ext uri="{FF2B5EF4-FFF2-40B4-BE49-F238E27FC236}">
                <a16:creationId xmlns:a16="http://schemas.microsoft.com/office/drawing/2014/main" id="{9790148A-38D2-C39C-20D4-D40B36929625}"/>
              </a:ext>
            </a:extLst>
          </p:cNvPr>
          <p:cNvSpPr txBox="1"/>
          <p:nvPr/>
        </p:nvSpPr>
        <p:spPr>
          <a:xfrm>
            <a:off x="812800" y="812800"/>
            <a:ext cx="10566399" cy="317498"/>
          </a:xfrm>
          <a:prstGeom prst="rect">
            <a:avLst/>
          </a:prstGeom>
          <a:noFill/>
          <a:ln>
            <a:noFill/>
          </a:ln>
        </p:spPr>
        <p:txBody>
          <a:bodyPr lIns="0" tIns="0" rIns="0" bIns="0" anchor="t">
            <a:noAutofit/>
          </a:bodyPr>
          <a:lstStyle/>
          <a:p>
            <a:pPr lvl="0">
              <a:lnSpc>
                <a:spcPct val="120000"/>
              </a:lnSpc>
              <a:spcBef>
                <a:spcPts val="0"/>
              </a:spcBef>
              <a:spcAft>
                <a:spcPts val="0"/>
              </a:spcAft>
              <a:buNone/>
              <a:defRPr sz="1400" b="0">
                <a:solidFill>
                  <a:srgbClr val="F2A65A"/>
                </a:solidFill>
                <a:latin typeface="Courier New"/>
              </a:defRPr>
            </a:pPr>
            <a:r>
              <a:rPr lang="en-US" sz="1400" b="0">
                <a:solidFill>
                  <a:srgbClr val="F2A65A"/>
                </a:solidFill>
                <a:latin typeface="Courier New"/>
              </a:rPr>
              <a:t>PHARMACY-AGENT · PURSUIT L2</a:t>
            </a:r>
          </a:p>
        </p:txBody>
      </p:sp>
      <p:sp>
        <p:nvSpPr>
          <p:cNvPr id="4" name="Pharmacy Inventory&#10;Logistics Agent">
            <a:extLst>
              <a:ext uri="{FF2B5EF4-FFF2-40B4-BE49-F238E27FC236}">
                <a16:creationId xmlns:a16="http://schemas.microsoft.com/office/drawing/2014/main" id="{2BD0B0B2-152C-F13D-E522-B93E74240E9A}"/>
              </a:ext>
            </a:extLst>
          </p:cNvPr>
          <p:cNvSpPr txBox="1"/>
          <p:nvPr/>
        </p:nvSpPr>
        <p:spPr>
          <a:xfrm>
            <a:off x="812800" y="2298700"/>
            <a:ext cx="10566399" cy="1650999"/>
          </a:xfrm>
          <a:prstGeom prst="rect">
            <a:avLst/>
          </a:prstGeom>
          <a:noFill/>
          <a:ln>
            <a:noFill/>
          </a:ln>
        </p:spPr>
        <p:txBody>
          <a:bodyPr lIns="0" tIns="0" rIns="0" bIns="0" anchor="t">
            <a:noAutofit/>
          </a:bodyPr>
          <a:lstStyle/>
          <a:p>
            <a:pPr lvl="0">
              <a:lnSpc>
                <a:spcPct val="105000"/>
              </a:lnSpc>
              <a:spcBef>
                <a:spcPts val="0"/>
              </a:spcBef>
              <a:spcAft>
                <a:spcPts val="0"/>
              </a:spcAft>
              <a:buNone/>
              <a:defRPr sz="5600" b="1">
                <a:solidFill>
                  <a:srgbClr val="F7F6F2"/>
                </a:solidFill>
                <a:latin typeface="Arial"/>
              </a:defRPr>
            </a:pPr>
            <a:r>
              <a:rPr lang="en-US" sz="5600" b="1">
                <a:solidFill>
                  <a:srgbClr val="F7F6F2"/>
                </a:solidFill>
                <a:latin typeface="Arial"/>
              </a:rPr>
              <a:t>Pharmacy Inventory</a:t>
            </a:r>
            <a:br>
              <a:rPr lang="en-US" sz="5600" b="1">
                <a:solidFill>
                  <a:srgbClr val="F7F6F2"/>
                </a:solidFill>
                <a:latin typeface="Arial"/>
              </a:rPr>
            </a:br>
            <a:r>
              <a:rPr lang="en-US" sz="5600" b="1">
                <a:solidFill>
                  <a:srgbClr val="F7F6F2"/>
                </a:solidFill>
                <a:latin typeface="Arial"/>
              </a:rPr>
              <a:t>Logistics Agent</a:t>
            </a:r>
          </a:p>
        </p:txBody>
      </p:sp>
      <p:sp>
        <p:nvSpPr>
          <p:cNvPr id="5" name="One store. Explained inventory review. Human opera">
            <a:extLst>
              <a:ext uri="{FF2B5EF4-FFF2-40B4-BE49-F238E27FC236}">
                <a16:creationId xmlns:a16="http://schemas.microsoft.com/office/drawing/2014/main" id="{4861B905-54E1-3541-0E5B-BE17B278B2CA}"/>
              </a:ext>
            </a:extLst>
          </p:cNvPr>
          <p:cNvSpPr txBox="1"/>
          <p:nvPr/>
        </p:nvSpPr>
        <p:spPr>
          <a:xfrm>
            <a:off x="812800" y="4108449"/>
            <a:ext cx="10566399" cy="520700"/>
          </a:xfrm>
          <a:prstGeom prst="rect">
            <a:avLst/>
          </a:prstGeom>
          <a:noFill/>
          <a:ln>
            <a:noFill/>
          </a:ln>
        </p:spPr>
        <p:txBody>
          <a:bodyPr lIns="0" tIns="0" rIns="0" bIns="0" anchor="t">
            <a:noAutofit/>
          </a:bodyPr>
          <a:lstStyle/>
          <a:p>
            <a:pPr lvl="0">
              <a:lnSpc>
                <a:spcPct val="130000"/>
              </a:lnSpc>
              <a:spcBef>
                <a:spcPts val="0"/>
              </a:spcBef>
              <a:spcAft>
                <a:spcPts val="0"/>
              </a:spcAft>
              <a:buNone/>
              <a:defRPr sz="2000" b="0">
                <a:solidFill>
                  <a:srgbClr val="C9D3E3"/>
                </a:solidFill>
                <a:latin typeface="Arial"/>
              </a:defRPr>
            </a:pPr>
            <a:r>
              <a:rPr lang="en-US" sz="2000" b="0">
                <a:solidFill>
                  <a:srgbClr val="C9D3E3"/>
                </a:solidFill>
                <a:latin typeface="Arial"/>
              </a:rPr>
              <a:t>One store. Explained inventory review. Human operational decisions.</a:t>
            </a:r>
          </a:p>
        </p:txBody>
      </p:sp>
      <p:sp>
        <p:nvSpPr>
          <p:cNvPr id="6" name="Background">
            <a:extLst>
              <a:ext uri="{FF2B5EF4-FFF2-40B4-BE49-F238E27FC236}">
                <a16:creationId xmlns:a16="http://schemas.microsoft.com/office/drawing/2014/main" id="{6884B84A-3FAF-4800-25D6-15850E57D8C9}"/>
              </a:ext>
            </a:extLst>
          </p:cNvPr>
          <p:cNvSpPr txBox="1"/>
          <p:nvPr/>
        </p:nvSpPr>
        <p:spPr>
          <a:xfrm>
            <a:off x="812800" y="5397501"/>
            <a:ext cx="3384550" cy="19051"/>
          </a:xfrm>
          <a:prstGeom prst="rect">
            <a:avLst/>
          </a:prstGeom>
          <a:solidFill>
            <a:srgbClr val="F2A65A"/>
          </a:solidFill>
          <a:ln>
            <a:noFill/>
          </a:ln>
        </p:spPr>
        <p:txBody>
          <a:bodyPr lIns="0" tIns="0" rIns="0" bIns="0"/>
          <a:lstStyle/>
          <a:p>
            <a:endParaRPr lang="en-US"/>
          </a:p>
        </p:txBody>
      </p:sp>
      <p:sp>
        <p:nvSpPr>
          <p:cNvPr id="7" name="Kerrian Gordon">
            <a:extLst>
              <a:ext uri="{FF2B5EF4-FFF2-40B4-BE49-F238E27FC236}">
                <a16:creationId xmlns:a16="http://schemas.microsoft.com/office/drawing/2014/main" id="{1770F444-1052-3800-A098-8329B41521F7}"/>
              </a:ext>
            </a:extLst>
          </p:cNvPr>
          <p:cNvSpPr txBox="1"/>
          <p:nvPr/>
        </p:nvSpPr>
        <p:spPr>
          <a:xfrm>
            <a:off x="812800" y="5562601"/>
            <a:ext cx="3384550" cy="279399"/>
          </a:xfrm>
          <a:prstGeom prst="rect">
            <a:avLst/>
          </a:prstGeom>
          <a:noFill/>
          <a:ln>
            <a:noFill/>
          </a:ln>
        </p:spPr>
        <p:txBody>
          <a:bodyPr lIns="0" tIns="0" rIns="0" bIns="0" anchor="t">
            <a:noAutofit/>
          </a:bodyPr>
          <a:lstStyle/>
          <a:p>
            <a:pPr lvl="0">
              <a:lnSpc>
                <a:spcPct val="120000"/>
              </a:lnSpc>
              <a:spcBef>
                <a:spcPts val="0"/>
              </a:spcBef>
              <a:spcAft>
                <a:spcPts val="0"/>
              </a:spcAft>
              <a:buNone/>
              <a:defRPr sz="1500" b="1">
                <a:solidFill>
                  <a:srgbClr val="F7F6F2"/>
                </a:solidFill>
                <a:latin typeface="Arial"/>
              </a:defRPr>
            </a:pPr>
            <a:r>
              <a:rPr lang="en-US" sz="1500" b="1">
                <a:solidFill>
                  <a:srgbClr val="F7F6F2"/>
                </a:solidFill>
                <a:latin typeface="Arial"/>
              </a:rPr>
              <a:t>Kerrian Gordon</a:t>
            </a:r>
          </a:p>
        </p:txBody>
      </p:sp>
      <p:sp>
        <p:nvSpPr>
          <p:cNvPr id="8" name="Harness">
            <a:extLst>
              <a:ext uri="{FF2B5EF4-FFF2-40B4-BE49-F238E27FC236}">
                <a16:creationId xmlns:a16="http://schemas.microsoft.com/office/drawing/2014/main" id="{375C5D21-1D2B-755C-1E5D-8F08EDAA604F}"/>
              </a:ext>
            </a:extLst>
          </p:cNvPr>
          <p:cNvSpPr txBox="1"/>
          <p:nvPr/>
        </p:nvSpPr>
        <p:spPr>
          <a:xfrm>
            <a:off x="812800" y="5905501"/>
            <a:ext cx="3384550" cy="419101"/>
          </a:xfrm>
          <a:prstGeom prst="rect">
            <a:avLst/>
          </a:prstGeom>
          <a:noFill/>
          <a:ln>
            <a:noFill/>
          </a:ln>
        </p:spPr>
        <p:txBody>
          <a:bodyPr lIns="0" tIns="0" rIns="0" bIns="0" anchor="t">
            <a:noAutofit/>
          </a:bodyPr>
          <a:lstStyle/>
          <a:p>
            <a:pPr lvl="0">
              <a:lnSpc>
                <a:spcPct val="120000"/>
              </a:lnSpc>
              <a:spcBef>
                <a:spcPts val="0"/>
              </a:spcBef>
              <a:spcAft>
                <a:spcPts val="0"/>
              </a:spcAft>
              <a:buNone/>
              <a:defRPr sz="1300" b="0">
                <a:solidFill>
                  <a:srgbClr val="C9D3E3"/>
                </a:solidFill>
                <a:latin typeface="Arial"/>
              </a:defRPr>
            </a:pPr>
            <a:r>
              <a:rPr lang="en-US" sz="1300" b="0">
                <a:solidFill>
                  <a:srgbClr val="C9D3E3"/>
                </a:solidFill>
                <a:latin typeface="Arial"/>
              </a:rPr>
              <a:t>Harness</a:t>
            </a:r>
          </a:p>
        </p:txBody>
      </p:sp>
      <p:sp>
        <p:nvSpPr>
          <p:cNvPr id="9" name="Background">
            <a:extLst>
              <a:ext uri="{FF2B5EF4-FFF2-40B4-BE49-F238E27FC236}">
                <a16:creationId xmlns:a16="http://schemas.microsoft.com/office/drawing/2014/main" id="{918887F6-472A-8CD3-61C1-F83EF386090B}"/>
              </a:ext>
            </a:extLst>
          </p:cNvPr>
          <p:cNvSpPr txBox="1"/>
          <p:nvPr/>
        </p:nvSpPr>
        <p:spPr>
          <a:xfrm>
            <a:off x="4400550" y="5397501"/>
            <a:ext cx="3384550" cy="19051"/>
          </a:xfrm>
          <a:prstGeom prst="rect">
            <a:avLst/>
          </a:prstGeom>
          <a:solidFill>
            <a:srgbClr val="F2A65A"/>
          </a:solidFill>
          <a:ln>
            <a:noFill/>
          </a:ln>
        </p:spPr>
        <p:txBody>
          <a:bodyPr lIns="0" tIns="0" rIns="0" bIns="0"/>
          <a:lstStyle/>
          <a:p>
            <a:endParaRPr lang="en-US"/>
          </a:p>
        </p:txBody>
      </p:sp>
      <p:sp>
        <p:nvSpPr>
          <p:cNvPr id="10" name="Brahim Maouloud">
            <a:extLst>
              <a:ext uri="{FF2B5EF4-FFF2-40B4-BE49-F238E27FC236}">
                <a16:creationId xmlns:a16="http://schemas.microsoft.com/office/drawing/2014/main" id="{0C81214B-011B-495E-247B-9C91EE68E79E}"/>
              </a:ext>
            </a:extLst>
          </p:cNvPr>
          <p:cNvSpPr txBox="1"/>
          <p:nvPr/>
        </p:nvSpPr>
        <p:spPr>
          <a:xfrm>
            <a:off x="4400550" y="5562601"/>
            <a:ext cx="3384550" cy="279399"/>
          </a:xfrm>
          <a:prstGeom prst="rect">
            <a:avLst/>
          </a:prstGeom>
          <a:noFill/>
          <a:ln>
            <a:noFill/>
          </a:ln>
        </p:spPr>
        <p:txBody>
          <a:bodyPr lIns="0" tIns="0" rIns="0" bIns="0" anchor="t">
            <a:noAutofit/>
          </a:bodyPr>
          <a:lstStyle/>
          <a:p>
            <a:pPr lvl="0">
              <a:lnSpc>
                <a:spcPct val="120000"/>
              </a:lnSpc>
              <a:spcBef>
                <a:spcPts val="0"/>
              </a:spcBef>
              <a:spcAft>
                <a:spcPts val="0"/>
              </a:spcAft>
              <a:buNone/>
              <a:defRPr sz="1500" b="1">
                <a:solidFill>
                  <a:srgbClr val="F7F6F2"/>
                </a:solidFill>
                <a:latin typeface="Arial"/>
              </a:defRPr>
            </a:pPr>
            <a:r>
              <a:rPr lang="en-US" sz="1500" b="1">
                <a:solidFill>
                  <a:srgbClr val="F7F6F2"/>
                </a:solidFill>
                <a:latin typeface="Arial"/>
              </a:rPr>
              <a:t>Brahim Maouloud</a:t>
            </a:r>
          </a:p>
        </p:txBody>
      </p:sp>
      <p:sp>
        <p:nvSpPr>
          <p:cNvPr id="11" name="Agent Instructions and Tooling">
            <a:extLst>
              <a:ext uri="{FF2B5EF4-FFF2-40B4-BE49-F238E27FC236}">
                <a16:creationId xmlns:a16="http://schemas.microsoft.com/office/drawing/2014/main" id="{EE2B823F-D9D5-5439-6E4A-5B9F22A035A0}"/>
              </a:ext>
            </a:extLst>
          </p:cNvPr>
          <p:cNvSpPr txBox="1"/>
          <p:nvPr/>
        </p:nvSpPr>
        <p:spPr>
          <a:xfrm>
            <a:off x="4400550" y="5905501"/>
            <a:ext cx="3384550" cy="419101"/>
          </a:xfrm>
          <a:prstGeom prst="rect">
            <a:avLst/>
          </a:prstGeom>
          <a:noFill/>
          <a:ln>
            <a:noFill/>
          </a:ln>
        </p:spPr>
        <p:txBody>
          <a:bodyPr lIns="0" tIns="0" rIns="0" bIns="0" anchor="t">
            <a:noAutofit/>
          </a:bodyPr>
          <a:lstStyle/>
          <a:p>
            <a:pPr lvl="0">
              <a:lnSpc>
                <a:spcPct val="120000"/>
              </a:lnSpc>
              <a:spcBef>
                <a:spcPts val="0"/>
              </a:spcBef>
              <a:spcAft>
                <a:spcPts val="0"/>
              </a:spcAft>
              <a:buNone/>
              <a:defRPr sz="1300" b="0">
                <a:solidFill>
                  <a:srgbClr val="C9D3E3"/>
                </a:solidFill>
                <a:latin typeface="Arial"/>
              </a:defRPr>
            </a:pPr>
            <a:r>
              <a:rPr lang="en-US" sz="1300" b="0">
                <a:solidFill>
                  <a:srgbClr val="C9D3E3"/>
                </a:solidFill>
                <a:latin typeface="Arial"/>
              </a:rPr>
              <a:t>Agent Instructions and Tooling</a:t>
            </a:r>
          </a:p>
        </p:txBody>
      </p:sp>
      <p:sp>
        <p:nvSpPr>
          <p:cNvPr id="12" name="Background">
            <a:extLst>
              <a:ext uri="{FF2B5EF4-FFF2-40B4-BE49-F238E27FC236}">
                <a16:creationId xmlns:a16="http://schemas.microsoft.com/office/drawing/2014/main" id="{1D2A735A-4D8C-8C94-C0BD-AD6E68C83A2E}"/>
              </a:ext>
            </a:extLst>
          </p:cNvPr>
          <p:cNvSpPr txBox="1"/>
          <p:nvPr/>
        </p:nvSpPr>
        <p:spPr>
          <a:xfrm>
            <a:off x="7988299" y="5397501"/>
            <a:ext cx="3384550" cy="19051"/>
          </a:xfrm>
          <a:prstGeom prst="rect">
            <a:avLst/>
          </a:prstGeom>
          <a:solidFill>
            <a:srgbClr val="F2A65A"/>
          </a:solidFill>
          <a:ln>
            <a:noFill/>
          </a:ln>
        </p:spPr>
        <p:txBody>
          <a:bodyPr lIns="0" tIns="0" rIns="0" bIns="0"/>
          <a:lstStyle/>
          <a:p>
            <a:endParaRPr lang="en-US"/>
          </a:p>
        </p:txBody>
      </p:sp>
      <p:sp>
        <p:nvSpPr>
          <p:cNvPr id="13" name="Emmanuel De Jesus">
            <a:extLst>
              <a:ext uri="{FF2B5EF4-FFF2-40B4-BE49-F238E27FC236}">
                <a16:creationId xmlns:a16="http://schemas.microsoft.com/office/drawing/2014/main" id="{C3353E56-EDFF-693F-C570-A392C0B2B8C8}"/>
              </a:ext>
            </a:extLst>
          </p:cNvPr>
          <p:cNvSpPr txBox="1"/>
          <p:nvPr/>
        </p:nvSpPr>
        <p:spPr>
          <a:xfrm>
            <a:off x="7988299" y="5562601"/>
            <a:ext cx="3384550" cy="279399"/>
          </a:xfrm>
          <a:prstGeom prst="rect">
            <a:avLst/>
          </a:prstGeom>
          <a:noFill/>
          <a:ln>
            <a:noFill/>
          </a:ln>
        </p:spPr>
        <p:txBody>
          <a:bodyPr lIns="0" tIns="0" rIns="0" bIns="0" anchor="t">
            <a:noAutofit/>
          </a:bodyPr>
          <a:lstStyle/>
          <a:p>
            <a:pPr lvl="0">
              <a:lnSpc>
                <a:spcPct val="120000"/>
              </a:lnSpc>
              <a:spcBef>
                <a:spcPts val="0"/>
              </a:spcBef>
              <a:spcAft>
                <a:spcPts val="0"/>
              </a:spcAft>
              <a:buNone/>
              <a:defRPr sz="1500" b="1">
                <a:solidFill>
                  <a:srgbClr val="F7F6F2"/>
                </a:solidFill>
                <a:latin typeface="Arial"/>
              </a:defRPr>
            </a:pPr>
            <a:r>
              <a:rPr lang="en-US" sz="1500" b="1">
                <a:solidFill>
                  <a:srgbClr val="F7F6F2"/>
                </a:solidFill>
                <a:latin typeface="Arial"/>
              </a:rPr>
              <a:t>Emmanuel De Jesus</a:t>
            </a:r>
          </a:p>
        </p:txBody>
      </p:sp>
      <p:sp>
        <p:nvSpPr>
          <p:cNvPr id="14" name="Injection Risk Prevention">
            <a:extLst>
              <a:ext uri="{FF2B5EF4-FFF2-40B4-BE49-F238E27FC236}">
                <a16:creationId xmlns:a16="http://schemas.microsoft.com/office/drawing/2014/main" id="{2E4FABD0-44BB-7BC6-78FB-B5C268712D22}"/>
              </a:ext>
            </a:extLst>
          </p:cNvPr>
          <p:cNvSpPr txBox="1"/>
          <p:nvPr/>
        </p:nvSpPr>
        <p:spPr>
          <a:xfrm>
            <a:off x="7988299" y="5905501"/>
            <a:ext cx="3384550" cy="419101"/>
          </a:xfrm>
          <a:prstGeom prst="rect">
            <a:avLst/>
          </a:prstGeom>
          <a:noFill/>
          <a:ln>
            <a:noFill/>
          </a:ln>
        </p:spPr>
        <p:txBody>
          <a:bodyPr lIns="0" tIns="0" rIns="0" bIns="0" anchor="t">
            <a:noAutofit/>
          </a:bodyPr>
          <a:lstStyle/>
          <a:p>
            <a:pPr lvl="0">
              <a:lnSpc>
                <a:spcPct val="120000"/>
              </a:lnSpc>
              <a:spcBef>
                <a:spcPts val="0"/>
              </a:spcBef>
              <a:spcAft>
                <a:spcPts val="0"/>
              </a:spcAft>
              <a:buNone/>
              <a:defRPr sz="1300" b="0">
                <a:solidFill>
                  <a:srgbClr val="C9D3E3"/>
                </a:solidFill>
                <a:latin typeface="Arial"/>
              </a:defRPr>
            </a:pPr>
            <a:r>
              <a:rPr lang="en-US" sz="1300" b="0">
                <a:solidFill>
                  <a:srgbClr val="C9D3E3"/>
                </a:solidFill>
                <a:latin typeface="Arial"/>
              </a:rPr>
              <a:t>Injection Risk Prevention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oes">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0BBFEFDB-D98A-4576-FF43-7E21226FE2D9}"/>
              </a:ext>
            </a:extLst>
          </p:cNvPr>
          <p:cNvSpPr txBox="1"/>
          <p:nvPr/>
        </p:nvSpPr>
        <p:spPr>
          <a:xfrm>
            <a:off x="0" y="0"/>
            <a:ext cx="12192001" cy="6858000"/>
          </a:xfrm>
          <a:prstGeom prst="rect">
            <a:avLst/>
          </a:prstGeom>
          <a:solidFill>
            <a:srgbClr val="F7F6F2"/>
          </a:solidFill>
          <a:ln>
            <a:noFill/>
          </a:ln>
        </p:spPr>
        <p:txBody>
          <a:bodyPr lIns="0" tIns="0" rIns="0" bIns="0"/>
          <a:lstStyle/>
          <a:p>
            <a:endParaRPr lang="en-US"/>
          </a:p>
        </p:txBody>
      </p:sp>
      <p:sp>
        <p:nvSpPr>
          <p:cNvPr id="3" name="THE PRODUCT">
            <a:extLst>
              <a:ext uri="{FF2B5EF4-FFF2-40B4-BE49-F238E27FC236}">
                <a16:creationId xmlns:a16="http://schemas.microsoft.com/office/drawing/2014/main" id="{DBB792AA-A5E1-274A-1F35-16726C1FDB49}"/>
              </a:ext>
            </a:extLst>
          </p:cNvPr>
          <p:cNvSpPr txBox="1"/>
          <p:nvPr/>
        </p:nvSpPr>
        <p:spPr>
          <a:xfrm>
            <a:off x="812800" y="812800"/>
            <a:ext cx="10566399" cy="254001"/>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B44E14"/>
                </a:solidFill>
                <a:latin typeface="Courier New"/>
              </a:defRPr>
            </a:pPr>
            <a:r>
              <a:rPr lang="en-US" sz="1200" b="0">
                <a:solidFill>
                  <a:srgbClr val="B44E14"/>
                </a:solidFill>
                <a:latin typeface="Courier New"/>
              </a:rPr>
              <a:t>THE PRODUCT</a:t>
            </a:r>
          </a:p>
        </p:txBody>
      </p:sp>
      <p:sp>
        <p:nvSpPr>
          <p:cNvPr id="4" name="What the agent does">
            <a:extLst>
              <a:ext uri="{FF2B5EF4-FFF2-40B4-BE49-F238E27FC236}">
                <a16:creationId xmlns:a16="http://schemas.microsoft.com/office/drawing/2014/main" id="{FED8E078-AD02-FAB0-3D5E-8BAB5809BC08}"/>
              </a:ext>
            </a:extLst>
          </p:cNvPr>
          <p:cNvSpPr txBox="1"/>
          <p:nvPr/>
        </p:nvSpPr>
        <p:spPr>
          <a:xfrm>
            <a:off x="812800" y="1143000"/>
            <a:ext cx="10566399" cy="984250"/>
          </a:xfrm>
          <a:prstGeom prst="rect">
            <a:avLst/>
          </a:prstGeom>
          <a:noFill/>
          <a:ln>
            <a:noFill/>
          </a:ln>
        </p:spPr>
        <p:txBody>
          <a:bodyPr lIns="0" tIns="0" rIns="0" bIns="0" anchor="t">
            <a:noAutofit/>
          </a:bodyPr>
          <a:lstStyle/>
          <a:p>
            <a:pPr lvl="0">
              <a:lnSpc>
                <a:spcPct val="110000"/>
              </a:lnSpc>
              <a:spcBef>
                <a:spcPts val="0"/>
              </a:spcBef>
              <a:spcAft>
                <a:spcPts val="0"/>
              </a:spcAft>
              <a:buNone/>
              <a:defRPr sz="3200" b="1">
                <a:solidFill>
                  <a:srgbClr val="14213D"/>
                </a:solidFill>
                <a:latin typeface="Arial"/>
              </a:defRPr>
            </a:pPr>
            <a:r>
              <a:rPr lang="en-US" sz="3200" b="1">
                <a:solidFill>
                  <a:srgbClr val="14213D"/>
                </a:solidFill>
                <a:latin typeface="Arial"/>
              </a:rPr>
              <a:t>What the agent does</a:t>
            </a:r>
          </a:p>
        </p:txBody>
      </p:sp>
      <p:sp>
        <p:nvSpPr>
          <p:cNvPr id="5" name="Pharmacy-AGENT  ·  Synthetic tests; human operatio">
            <a:extLst>
              <a:ext uri="{FF2B5EF4-FFF2-40B4-BE49-F238E27FC236}">
                <a16:creationId xmlns:a16="http://schemas.microsoft.com/office/drawing/2014/main" id="{6266D470-02EB-F3D8-6B29-EDCE028B4FCE}"/>
              </a:ext>
            </a:extLst>
          </p:cNvPr>
          <p:cNvSpPr txBox="1"/>
          <p:nvPr/>
        </p:nvSpPr>
        <p:spPr>
          <a:xfrm>
            <a:off x="812800" y="6222999"/>
            <a:ext cx="10566399" cy="279399"/>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6A7385"/>
                </a:solidFill>
                <a:latin typeface="Arial"/>
              </a:defRPr>
            </a:pPr>
            <a:r>
              <a:rPr lang="en-US" sz="1200" b="0">
                <a:solidFill>
                  <a:srgbClr val="6A7385"/>
                </a:solidFill>
                <a:latin typeface="Arial"/>
              </a:rPr>
              <a:t>Pharmacy-AGENT · Synthetic tests; human operational decisions · 2 / 10</a:t>
            </a:r>
          </a:p>
        </p:txBody>
      </p:sp>
      <p:sp>
        <p:nvSpPr>
          <p:cNvPr id="6" name="Background">
            <a:extLst>
              <a:ext uri="{FF2B5EF4-FFF2-40B4-BE49-F238E27FC236}">
                <a16:creationId xmlns:a16="http://schemas.microsoft.com/office/drawing/2014/main" id="{1B963D61-D29F-76D2-E48D-03BCA5020ADB}"/>
              </a:ext>
            </a:extLst>
          </p:cNvPr>
          <p:cNvSpPr txBox="1"/>
          <p:nvPr/>
        </p:nvSpPr>
        <p:spPr>
          <a:xfrm>
            <a:off x="812800" y="2031998"/>
            <a:ext cx="3422649" cy="1422399"/>
          </a:xfrm>
          <a:prstGeom prst="rect">
            <a:avLst/>
          </a:prstGeom>
          <a:solidFill>
            <a:srgbClr val="FFFFFF"/>
          </a:solidFill>
          <a:ln>
            <a:noFill/>
          </a:ln>
        </p:spPr>
        <p:txBody>
          <a:bodyPr lIns="0" tIns="0" rIns="0" bIns="0"/>
          <a:lstStyle/>
          <a:p>
            <a:endParaRPr lang="en-US"/>
          </a:p>
        </p:txBody>
      </p:sp>
      <p:sp>
        <p:nvSpPr>
          <p:cNvPr id="7" name="01">
            <a:extLst>
              <a:ext uri="{FF2B5EF4-FFF2-40B4-BE49-F238E27FC236}">
                <a16:creationId xmlns:a16="http://schemas.microsoft.com/office/drawing/2014/main" id="{E12337F1-BA82-98B3-8F39-A09FFEB03B01}"/>
              </a:ext>
            </a:extLst>
          </p:cNvPr>
          <p:cNvSpPr txBox="1"/>
          <p:nvPr/>
        </p:nvSpPr>
        <p:spPr>
          <a:xfrm>
            <a:off x="1015999" y="2222499"/>
            <a:ext cx="3016249" cy="241300"/>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B44E14"/>
                </a:solidFill>
                <a:latin typeface="Courier New"/>
              </a:defRPr>
            </a:pPr>
            <a:r>
              <a:rPr lang="en-US" sz="1200" b="0">
                <a:solidFill>
                  <a:srgbClr val="B44E14"/>
                </a:solidFill>
                <a:latin typeface="Courier New"/>
              </a:rPr>
              <a:t>01</a:t>
            </a:r>
          </a:p>
        </p:txBody>
      </p:sp>
      <p:sp>
        <p:nvSpPr>
          <p:cNvPr id="8" name="Reads synthetic stock and usage for store 1618">
            <a:extLst>
              <a:ext uri="{FF2B5EF4-FFF2-40B4-BE49-F238E27FC236}">
                <a16:creationId xmlns:a16="http://schemas.microsoft.com/office/drawing/2014/main" id="{BD7BAB71-A804-CEE7-DD81-B7B9BACA060B}"/>
              </a:ext>
            </a:extLst>
          </p:cNvPr>
          <p:cNvSpPr txBox="1"/>
          <p:nvPr/>
        </p:nvSpPr>
        <p:spPr>
          <a:xfrm>
            <a:off x="1015999" y="2552698"/>
            <a:ext cx="3016249" cy="787399"/>
          </a:xfrm>
          <a:prstGeom prst="rect">
            <a:avLst/>
          </a:prstGeom>
          <a:noFill/>
          <a:ln>
            <a:noFill/>
          </a:ln>
        </p:spPr>
        <p:txBody>
          <a:bodyPr lIns="0" tIns="0" rIns="0" bIns="0" anchor="t">
            <a:noAutofit/>
          </a:bodyPr>
          <a:lstStyle/>
          <a:p>
            <a:pPr lvl="0">
              <a:lnSpc>
                <a:spcPct val="135000"/>
              </a:lnSpc>
              <a:spcBef>
                <a:spcPts val="0"/>
              </a:spcBef>
              <a:spcAft>
                <a:spcPts val="0"/>
              </a:spcAft>
              <a:buNone/>
              <a:defRPr sz="1400" b="0">
                <a:solidFill>
                  <a:srgbClr val="14213D"/>
                </a:solidFill>
                <a:latin typeface="Arial"/>
              </a:defRPr>
            </a:pPr>
            <a:r>
              <a:rPr lang="en-US" sz="1400" b="0">
                <a:solidFill>
                  <a:srgbClr val="14213D"/>
                </a:solidFill>
                <a:latin typeface="Arial"/>
              </a:rPr>
              <a:t>Reads synthetic stock and usage for store 1618</a:t>
            </a:r>
          </a:p>
        </p:txBody>
      </p:sp>
      <p:sp>
        <p:nvSpPr>
          <p:cNvPr id="9" name="Background">
            <a:extLst>
              <a:ext uri="{FF2B5EF4-FFF2-40B4-BE49-F238E27FC236}">
                <a16:creationId xmlns:a16="http://schemas.microsoft.com/office/drawing/2014/main" id="{0886A9EA-BC31-EE8C-B8B5-AB841EF7FD6F}"/>
              </a:ext>
            </a:extLst>
          </p:cNvPr>
          <p:cNvSpPr txBox="1"/>
          <p:nvPr/>
        </p:nvSpPr>
        <p:spPr>
          <a:xfrm>
            <a:off x="4387849" y="2031998"/>
            <a:ext cx="3422649" cy="1422399"/>
          </a:xfrm>
          <a:prstGeom prst="rect">
            <a:avLst/>
          </a:prstGeom>
          <a:solidFill>
            <a:srgbClr val="FFFFFF"/>
          </a:solidFill>
          <a:ln>
            <a:noFill/>
          </a:ln>
        </p:spPr>
        <p:txBody>
          <a:bodyPr lIns="0" tIns="0" rIns="0" bIns="0"/>
          <a:lstStyle/>
          <a:p>
            <a:endParaRPr lang="en-US"/>
          </a:p>
        </p:txBody>
      </p:sp>
      <p:sp>
        <p:nvSpPr>
          <p:cNvPr id="10" name="02">
            <a:extLst>
              <a:ext uri="{FF2B5EF4-FFF2-40B4-BE49-F238E27FC236}">
                <a16:creationId xmlns:a16="http://schemas.microsoft.com/office/drawing/2014/main" id="{E19E08AF-DC6D-EDED-A5CF-D8A229D2A36A}"/>
              </a:ext>
            </a:extLst>
          </p:cNvPr>
          <p:cNvSpPr txBox="1"/>
          <p:nvPr/>
        </p:nvSpPr>
        <p:spPr>
          <a:xfrm>
            <a:off x="4591051" y="2222499"/>
            <a:ext cx="3016249" cy="241300"/>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B44E14"/>
                </a:solidFill>
                <a:latin typeface="Courier New"/>
              </a:defRPr>
            </a:pPr>
            <a:r>
              <a:rPr lang="en-US" sz="1200" b="0">
                <a:solidFill>
                  <a:srgbClr val="B44E14"/>
                </a:solidFill>
                <a:latin typeface="Courier New"/>
              </a:rPr>
              <a:t>02</a:t>
            </a:r>
          </a:p>
        </p:txBody>
      </p:sp>
      <p:sp>
        <p:nvSpPr>
          <p:cNvPr id="11" name="Estimates days of supply from 14 completed usage d">
            <a:extLst>
              <a:ext uri="{FF2B5EF4-FFF2-40B4-BE49-F238E27FC236}">
                <a16:creationId xmlns:a16="http://schemas.microsoft.com/office/drawing/2014/main" id="{E88C3262-6BB5-4674-EC59-86A6BA663E59}"/>
              </a:ext>
            </a:extLst>
          </p:cNvPr>
          <p:cNvSpPr txBox="1"/>
          <p:nvPr/>
        </p:nvSpPr>
        <p:spPr>
          <a:xfrm>
            <a:off x="4591051" y="2552698"/>
            <a:ext cx="3016249" cy="787399"/>
          </a:xfrm>
          <a:prstGeom prst="rect">
            <a:avLst/>
          </a:prstGeom>
          <a:noFill/>
          <a:ln>
            <a:noFill/>
          </a:ln>
        </p:spPr>
        <p:txBody>
          <a:bodyPr lIns="0" tIns="0" rIns="0" bIns="0" anchor="t">
            <a:noAutofit/>
          </a:bodyPr>
          <a:lstStyle/>
          <a:p>
            <a:pPr lvl="0">
              <a:lnSpc>
                <a:spcPct val="135000"/>
              </a:lnSpc>
              <a:spcBef>
                <a:spcPts val="0"/>
              </a:spcBef>
              <a:spcAft>
                <a:spcPts val="0"/>
              </a:spcAft>
              <a:buNone/>
              <a:defRPr sz="1400" b="0">
                <a:solidFill>
                  <a:srgbClr val="14213D"/>
                </a:solidFill>
                <a:latin typeface="Arial"/>
              </a:defRPr>
            </a:pPr>
            <a:r>
              <a:rPr lang="en-US" sz="1400" b="0">
                <a:solidFill>
                  <a:srgbClr val="14213D"/>
                </a:solidFill>
                <a:latin typeface="Arial"/>
              </a:rPr>
              <a:t>Estimates days of supply from 14 completed usage days</a:t>
            </a:r>
          </a:p>
        </p:txBody>
      </p:sp>
      <p:sp>
        <p:nvSpPr>
          <p:cNvPr id="12" name="Background">
            <a:extLst>
              <a:ext uri="{FF2B5EF4-FFF2-40B4-BE49-F238E27FC236}">
                <a16:creationId xmlns:a16="http://schemas.microsoft.com/office/drawing/2014/main" id="{8D9779D2-6A4D-2458-F601-F0A8655A2A12}"/>
              </a:ext>
            </a:extLst>
          </p:cNvPr>
          <p:cNvSpPr txBox="1"/>
          <p:nvPr/>
        </p:nvSpPr>
        <p:spPr>
          <a:xfrm>
            <a:off x="7962901" y="2031998"/>
            <a:ext cx="3422649" cy="1422399"/>
          </a:xfrm>
          <a:prstGeom prst="rect">
            <a:avLst/>
          </a:prstGeom>
          <a:solidFill>
            <a:srgbClr val="FFFFFF"/>
          </a:solidFill>
          <a:ln>
            <a:noFill/>
          </a:ln>
        </p:spPr>
        <p:txBody>
          <a:bodyPr lIns="0" tIns="0" rIns="0" bIns="0"/>
          <a:lstStyle/>
          <a:p>
            <a:endParaRPr lang="en-US"/>
          </a:p>
        </p:txBody>
      </p:sp>
      <p:sp>
        <p:nvSpPr>
          <p:cNvPr id="13" name="03">
            <a:extLst>
              <a:ext uri="{FF2B5EF4-FFF2-40B4-BE49-F238E27FC236}">
                <a16:creationId xmlns:a16="http://schemas.microsoft.com/office/drawing/2014/main" id="{7D969C6B-6B89-0FA4-AC1A-719AD094BB2A}"/>
              </a:ext>
            </a:extLst>
          </p:cNvPr>
          <p:cNvSpPr txBox="1"/>
          <p:nvPr/>
        </p:nvSpPr>
        <p:spPr>
          <a:xfrm>
            <a:off x="8166099" y="2222499"/>
            <a:ext cx="3016249" cy="241300"/>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B44E14"/>
                </a:solidFill>
                <a:latin typeface="Courier New"/>
              </a:defRPr>
            </a:pPr>
            <a:r>
              <a:rPr lang="en-US" sz="1200" b="0">
                <a:solidFill>
                  <a:srgbClr val="B44E14"/>
                </a:solidFill>
                <a:latin typeface="Courier New"/>
              </a:rPr>
              <a:t>03</a:t>
            </a:r>
          </a:p>
        </p:txBody>
      </p:sp>
      <p:sp>
        <p:nvSpPr>
          <p:cNvPr id="14" name="Compares validated facts with approved item policy">
            <a:extLst>
              <a:ext uri="{FF2B5EF4-FFF2-40B4-BE49-F238E27FC236}">
                <a16:creationId xmlns:a16="http://schemas.microsoft.com/office/drawing/2014/main" id="{5A59EAB4-DEA3-9F27-281F-596966EFD00C}"/>
              </a:ext>
            </a:extLst>
          </p:cNvPr>
          <p:cNvSpPr txBox="1"/>
          <p:nvPr/>
        </p:nvSpPr>
        <p:spPr>
          <a:xfrm>
            <a:off x="8166099" y="2552698"/>
            <a:ext cx="3016249" cy="787399"/>
          </a:xfrm>
          <a:prstGeom prst="rect">
            <a:avLst/>
          </a:prstGeom>
          <a:noFill/>
          <a:ln>
            <a:noFill/>
          </a:ln>
        </p:spPr>
        <p:txBody>
          <a:bodyPr lIns="0" tIns="0" rIns="0" bIns="0" anchor="t">
            <a:noAutofit/>
          </a:bodyPr>
          <a:lstStyle/>
          <a:p>
            <a:pPr lvl="0">
              <a:lnSpc>
                <a:spcPct val="135000"/>
              </a:lnSpc>
              <a:spcBef>
                <a:spcPts val="0"/>
              </a:spcBef>
              <a:spcAft>
                <a:spcPts val="0"/>
              </a:spcAft>
              <a:buNone/>
              <a:defRPr sz="1400" b="0">
                <a:solidFill>
                  <a:srgbClr val="14213D"/>
                </a:solidFill>
                <a:latin typeface="Arial"/>
              </a:defRPr>
            </a:pPr>
            <a:r>
              <a:rPr lang="en-US" sz="1400" b="0">
                <a:solidFill>
                  <a:srgbClr val="14213D"/>
                </a:solidFill>
                <a:latin typeface="Arial"/>
              </a:rPr>
              <a:t>Compares validated facts with approved item policy</a:t>
            </a:r>
          </a:p>
        </p:txBody>
      </p:sp>
      <p:sp>
        <p:nvSpPr>
          <p:cNvPr id="15" name="Background">
            <a:extLst>
              <a:ext uri="{FF2B5EF4-FFF2-40B4-BE49-F238E27FC236}">
                <a16:creationId xmlns:a16="http://schemas.microsoft.com/office/drawing/2014/main" id="{DB4410C4-5B54-E711-46C4-E531A4A44774}"/>
              </a:ext>
            </a:extLst>
          </p:cNvPr>
          <p:cNvSpPr txBox="1"/>
          <p:nvPr/>
        </p:nvSpPr>
        <p:spPr>
          <a:xfrm>
            <a:off x="812800" y="3619501"/>
            <a:ext cx="3422649" cy="1422399"/>
          </a:xfrm>
          <a:prstGeom prst="rect">
            <a:avLst/>
          </a:prstGeom>
          <a:solidFill>
            <a:srgbClr val="FFFFFF"/>
          </a:solidFill>
          <a:ln>
            <a:noFill/>
          </a:ln>
        </p:spPr>
        <p:txBody>
          <a:bodyPr lIns="0" tIns="0" rIns="0" bIns="0"/>
          <a:lstStyle/>
          <a:p>
            <a:endParaRPr lang="en-US"/>
          </a:p>
        </p:txBody>
      </p:sp>
      <p:sp>
        <p:nvSpPr>
          <p:cNvPr id="16" name="04">
            <a:extLst>
              <a:ext uri="{FF2B5EF4-FFF2-40B4-BE49-F238E27FC236}">
                <a16:creationId xmlns:a16="http://schemas.microsoft.com/office/drawing/2014/main" id="{2FD61814-957F-468F-A1F4-95180BE8D198}"/>
              </a:ext>
            </a:extLst>
          </p:cNvPr>
          <p:cNvSpPr txBox="1"/>
          <p:nvPr/>
        </p:nvSpPr>
        <p:spPr>
          <a:xfrm>
            <a:off x="1015999" y="3809998"/>
            <a:ext cx="3016249" cy="241300"/>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B44E14"/>
                </a:solidFill>
                <a:latin typeface="Courier New"/>
              </a:defRPr>
            </a:pPr>
            <a:r>
              <a:rPr lang="en-US" sz="1200" b="0">
                <a:solidFill>
                  <a:srgbClr val="B44E14"/>
                </a:solidFill>
                <a:latin typeface="Courier New"/>
              </a:rPr>
              <a:t>04</a:t>
            </a:r>
          </a:p>
        </p:txBody>
      </p:sp>
      <p:sp>
        <p:nvSpPr>
          <p:cNvPr id="17" name="Keeps FDA national shortage context separate from ">
            <a:extLst>
              <a:ext uri="{FF2B5EF4-FFF2-40B4-BE49-F238E27FC236}">
                <a16:creationId xmlns:a16="http://schemas.microsoft.com/office/drawing/2014/main" id="{45D19D15-703D-26D5-17AB-9F5DFB303F2B}"/>
              </a:ext>
            </a:extLst>
          </p:cNvPr>
          <p:cNvSpPr txBox="1"/>
          <p:nvPr/>
        </p:nvSpPr>
        <p:spPr>
          <a:xfrm>
            <a:off x="1015999" y="4140201"/>
            <a:ext cx="3016249" cy="787399"/>
          </a:xfrm>
          <a:prstGeom prst="rect">
            <a:avLst/>
          </a:prstGeom>
          <a:noFill/>
          <a:ln>
            <a:noFill/>
          </a:ln>
        </p:spPr>
        <p:txBody>
          <a:bodyPr lIns="0" tIns="0" rIns="0" bIns="0" anchor="t">
            <a:noAutofit/>
          </a:bodyPr>
          <a:lstStyle/>
          <a:p>
            <a:pPr lvl="0">
              <a:lnSpc>
                <a:spcPct val="135000"/>
              </a:lnSpc>
              <a:spcBef>
                <a:spcPts val="0"/>
              </a:spcBef>
              <a:spcAft>
                <a:spcPts val="0"/>
              </a:spcAft>
              <a:buNone/>
              <a:defRPr sz="1400" b="0">
                <a:solidFill>
                  <a:srgbClr val="14213D"/>
                </a:solidFill>
                <a:latin typeface="Arial"/>
              </a:defRPr>
            </a:pPr>
            <a:r>
              <a:rPr lang="en-US" sz="1400" b="0">
                <a:solidFill>
                  <a:srgbClr val="14213D"/>
                </a:solidFill>
                <a:latin typeface="Arial"/>
              </a:rPr>
              <a:t>Keeps FDA national shortage context separate from local supply</a:t>
            </a:r>
          </a:p>
        </p:txBody>
      </p:sp>
      <p:sp>
        <p:nvSpPr>
          <p:cNvPr id="18" name="Background">
            <a:extLst>
              <a:ext uri="{FF2B5EF4-FFF2-40B4-BE49-F238E27FC236}">
                <a16:creationId xmlns:a16="http://schemas.microsoft.com/office/drawing/2014/main" id="{BCDCC1DC-99DF-3F2B-47B1-70F8AA2192C8}"/>
              </a:ext>
            </a:extLst>
          </p:cNvPr>
          <p:cNvSpPr txBox="1"/>
          <p:nvPr/>
        </p:nvSpPr>
        <p:spPr>
          <a:xfrm>
            <a:off x="4387849" y="3619501"/>
            <a:ext cx="3422649" cy="1422399"/>
          </a:xfrm>
          <a:prstGeom prst="rect">
            <a:avLst/>
          </a:prstGeom>
          <a:solidFill>
            <a:srgbClr val="FFFFFF"/>
          </a:solidFill>
          <a:ln>
            <a:noFill/>
          </a:ln>
        </p:spPr>
        <p:txBody>
          <a:bodyPr lIns="0" tIns="0" rIns="0" bIns="0"/>
          <a:lstStyle/>
          <a:p>
            <a:endParaRPr lang="en-US"/>
          </a:p>
        </p:txBody>
      </p:sp>
      <p:sp>
        <p:nvSpPr>
          <p:cNvPr id="19" name="05">
            <a:extLst>
              <a:ext uri="{FF2B5EF4-FFF2-40B4-BE49-F238E27FC236}">
                <a16:creationId xmlns:a16="http://schemas.microsoft.com/office/drawing/2014/main" id="{95C8A29B-BC76-3A6C-43FE-831929776991}"/>
              </a:ext>
            </a:extLst>
          </p:cNvPr>
          <p:cNvSpPr txBox="1"/>
          <p:nvPr/>
        </p:nvSpPr>
        <p:spPr>
          <a:xfrm>
            <a:off x="4591051" y="3809998"/>
            <a:ext cx="3016249" cy="241300"/>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B44E14"/>
                </a:solidFill>
                <a:latin typeface="Courier New"/>
              </a:defRPr>
            </a:pPr>
            <a:r>
              <a:rPr lang="en-US" sz="1200" b="0">
                <a:solidFill>
                  <a:srgbClr val="B44E14"/>
                </a:solidFill>
                <a:latin typeface="Courier New"/>
              </a:rPr>
              <a:t>05</a:t>
            </a:r>
          </a:p>
        </p:txBody>
      </p:sp>
      <p:sp>
        <p:nvSpPr>
          <p:cNvPr id="20" name="Shows calculation evidence and uncertainty for hum">
            <a:extLst>
              <a:ext uri="{FF2B5EF4-FFF2-40B4-BE49-F238E27FC236}">
                <a16:creationId xmlns:a16="http://schemas.microsoft.com/office/drawing/2014/main" id="{62B852A3-8E31-CA20-75B2-B1787AB058CE}"/>
              </a:ext>
            </a:extLst>
          </p:cNvPr>
          <p:cNvSpPr txBox="1"/>
          <p:nvPr/>
        </p:nvSpPr>
        <p:spPr>
          <a:xfrm>
            <a:off x="4591051" y="4140201"/>
            <a:ext cx="3016249" cy="787399"/>
          </a:xfrm>
          <a:prstGeom prst="rect">
            <a:avLst/>
          </a:prstGeom>
          <a:noFill/>
          <a:ln>
            <a:noFill/>
          </a:ln>
        </p:spPr>
        <p:txBody>
          <a:bodyPr lIns="0" tIns="0" rIns="0" bIns="0" anchor="t">
            <a:noAutofit/>
          </a:bodyPr>
          <a:lstStyle/>
          <a:p>
            <a:pPr lvl="0">
              <a:lnSpc>
                <a:spcPct val="135000"/>
              </a:lnSpc>
              <a:spcBef>
                <a:spcPts val="0"/>
              </a:spcBef>
              <a:spcAft>
                <a:spcPts val="0"/>
              </a:spcAft>
              <a:buNone/>
              <a:defRPr sz="1400" b="0">
                <a:solidFill>
                  <a:srgbClr val="14213D"/>
                </a:solidFill>
                <a:latin typeface="Arial"/>
              </a:defRPr>
            </a:pPr>
            <a:r>
              <a:rPr lang="en-US" sz="1400" b="0">
                <a:solidFill>
                  <a:srgbClr val="14213D"/>
                </a:solidFill>
                <a:latin typeface="Arial"/>
              </a:rPr>
              <a:t>Shows calculation evidence and uncertainty for human review</a:t>
            </a:r>
          </a:p>
        </p:txBody>
      </p:sp>
      <p:sp>
        <p:nvSpPr>
          <p:cNvPr id="21" name="Background">
            <a:extLst>
              <a:ext uri="{FF2B5EF4-FFF2-40B4-BE49-F238E27FC236}">
                <a16:creationId xmlns:a16="http://schemas.microsoft.com/office/drawing/2014/main" id="{851EE63F-0901-D098-D2B8-24CA13489138}"/>
              </a:ext>
            </a:extLst>
          </p:cNvPr>
          <p:cNvSpPr txBox="1"/>
          <p:nvPr/>
        </p:nvSpPr>
        <p:spPr>
          <a:xfrm>
            <a:off x="7962901" y="3619501"/>
            <a:ext cx="3422649" cy="1422399"/>
          </a:xfrm>
          <a:prstGeom prst="rect">
            <a:avLst/>
          </a:prstGeom>
          <a:solidFill>
            <a:srgbClr val="14213D"/>
          </a:solidFill>
          <a:ln>
            <a:noFill/>
          </a:ln>
        </p:spPr>
        <p:txBody>
          <a:bodyPr lIns="0" tIns="0" rIns="0" bIns="0"/>
          <a:lstStyle/>
          <a:p>
            <a:endParaRPr lang="en-US"/>
          </a:p>
        </p:txBody>
      </p:sp>
      <p:sp>
        <p:nvSpPr>
          <p:cNvPr id="22" name="06">
            <a:extLst>
              <a:ext uri="{FF2B5EF4-FFF2-40B4-BE49-F238E27FC236}">
                <a16:creationId xmlns:a16="http://schemas.microsoft.com/office/drawing/2014/main" id="{F878E375-AEFC-C5C7-65EA-BE2B562F679D}"/>
              </a:ext>
            </a:extLst>
          </p:cNvPr>
          <p:cNvSpPr txBox="1"/>
          <p:nvPr/>
        </p:nvSpPr>
        <p:spPr>
          <a:xfrm>
            <a:off x="8166099" y="3809998"/>
            <a:ext cx="3016249" cy="241300"/>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F2A65A"/>
                </a:solidFill>
                <a:latin typeface="Courier New"/>
              </a:defRPr>
            </a:pPr>
            <a:r>
              <a:rPr lang="en-US" sz="1200" b="0">
                <a:solidFill>
                  <a:srgbClr val="F2A65A"/>
                </a:solidFill>
                <a:latin typeface="Courier New"/>
              </a:rPr>
              <a:t>06</a:t>
            </a:r>
          </a:p>
        </p:txBody>
      </p:sp>
      <p:sp>
        <p:nvSpPr>
          <p:cNvPr id="23" name="Authorized staff act outside the agent: it never o">
            <a:extLst>
              <a:ext uri="{FF2B5EF4-FFF2-40B4-BE49-F238E27FC236}">
                <a16:creationId xmlns:a16="http://schemas.microsoft.com/office/drawing/2014/main" id="{E0386B11-32FC-1D6C-88C8-9D6F36139982}"/>
              </a:ext>
            </a:extLst>
          </p:cNvPr>
          <p:cNvSpPr txBox="1"/>
          <p:nvPr/>
        </p:nvSpPr>
        <p:spPr>
          <a:xfrm>
            <a:off x="8166099" y="4140201"/>
            <a:ext cx="3016249" cy="787399"/>
          </a:xfrm>
          <a:prstGeom prst="rect">
            <a:avLst/>
          </a:prstGeom>
          <a:noFill/>
          <a:ln>
            <a:noFill/>
          </a:ln>
        </p:spPr>
        <p:txBody>
          <a:bodyPr lIns="0" tIns="0" rIns="0" bIns="0" anchor="t">
            <a:noAutofit/>
          </a:bodyPr>
          <a:lstStyle/>
          <a:p>
            <a:pPr lvl="0">
              <a:lnSpc>
                <a:spcPct val="135000"/>
              </a:lnSpc>
              <a:spcBef>
                <a:spcPts val="0"/>
              </a:spcBef>
              <a:spcAft>
                <a:spcPts val="0"/>
              </a:spcAft>
              <a:buNone/>
              <a:defRPr sz="1400" b="0">
                <a:solidFill>
                  <a:srgbClr val="F7F6F2"/>
                </a:solidFill>
                <a:latin typeface="Arial"/>
              </a:defRPr>
            </a:pPr>
            <a:r>
              <a:rPr lang="en-US" sz="1400" b="0">
                <a:solidFill>
                  <a:srgbClr val="F7F6F2"/>
                </a:solidFill>
                <a:latin typeface="Arial"/>
              </a:rPr>
              <a:t>Authorized staff act outside the agent: it never orders or writes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arch">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C14C7F5C-0DB5-ABDD-3895-8EF4D0615D0C}"/>
              </a:ext>
            </a:extLst>
          </p:cNvPr>
          <p:cNvSpPr txBox="1"/>
          <p:nvPr/>
        </p:nvSpPr>
        <p:spPr>
          <a:xfrm>
            <a:off x="0" y="0"/>
            <a:ext cx="12192001" cy="6858000"/>
          </a:xfrm>
          <a:prstGeom prst="rect">
            <a:avLst/>
          </a:prstGeom>
          <a:solidFill>
            <a:srgbClr val="F7F6F2"/>
          </a:solidFill>
          <a:ln>
            <a:noFill/>
          </a:ln>
        </p:spPr>
        <p:txBody>
          <a:bodyPr lIns="0" tIns="0" rIns="0" bIns="0"/>
          <a:lstStyle/>
          <a:p>
            <a:endParaRPr lang="en-US"/>
          </a:p>
        </p:txBody>
      </p:sp>
      <p:sp>
        <p:nvSpPr>
          <p:cNvPr id="3" name="ARCHITECTURE">
            <a:extLst>
              <a:ext uri="{FF2B5EF4-FFF2-40B4-BE49-F238E27FC236}">
                <a16:creationId xmlns:a16="http://schemas.microsoft.com/office/drawing/2014/main" id="{6E8CED4E-396E-238B-3B51-F99A757A206D}"/>
              </a:ext>
            </a:extLst>
          </p:cNvPr>
          <p:cNvSpPr txBox="1"/>
          <p:nvPr/>
        </p:nvSpPr>
        <p:spPr>
          <a:xfrm>
            <a:off x="812800" y="812800"/>
            <a:ext cx="10566399" cy="254001"/>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B44E14"/>
                </a:solidFill>
                <a:latin typeface="Courier New"/>
              </a:defRPr>
            </a:pPr>
            <a:r>
              <a:rPr lang="en-US" sz="1200" b="0">
                <a:solidFill>
                  <a:srgbClr val="B44E14"/>
                </a:solidFill>
                <a:latin typeface="Courier New"/>
              </a:rPr>
              <a:t>ARCHITECTURE</a:t>
            </a:r>
          </a:p>
        </p:txBody>
      </p:sp>
      <p:sp>
        <p:nvSpPr>
          <p:cNvPr id="4" name="Three parts, every step guarded">
            <a:extLst>
              <a:ext uri="{FF2B5EF4-FFF2-40B4-BE49-F238E27FC236}">
                <a16:creationId xmlns:a16="http://schemas.microsoft.com/office/drawing/2014/main" id="{B90BEA9F-C1F6-2274-423E-D913BCAD32CA}"/>
              </a:ext>
            </a:extLst>
          </p:cNvPr>
          <p:cNvSpPr txBox="1"/>
          <p:nvPr/>
        </p:nvSpPr>
        <p:spPr>
          <a:xfrm>
            <a:off x="812800" y="1143000"/>
            <a:ext cx="10566399" cy="984250"/>
          </a:xfrm>
          <a:prstGeom prst="rect">
            <a:avLst/>
          </a:prstGeom>
          <a:noFill/>
          <a:ln>
            <a:noFill/>
          </a:ln>
        </p:spPr>
        <p:txBody>
          <a:bodyPr lIns="0" tIns="0" rIns="0" bIns="0" anchor="t">
            <a:noAutofit/>
          </a:bodyPr>
          <a:lstStyle/>
          <a:p>
            <a:pPr lvl="0">
              <a:lnSpc>
                <a:spcPct val="110000"/>
              </a:lnSpc>
              <a:spcBef>
                <a:spcPts val="0"/>
              </a:spcBef>
              <a:spcAft>
                <a:spcPts val="0"/>
              </a:spcAft>
              <a:buNone/>
              <a:defRPr sz="3200" b="1">
                <a:solidFill>
                  <a:srgbClr val="14213D"/>
                </a:solidFill>
                <a:latin typeface="Arial"/>
              </a:defRPr>
            </a:pPr>
            <a:r>
              <a:rPr lang="en-US" sz="3200" b="1">
                <a:solidFill>
                  <a:srgbClr val="14213D"/>
                </a:solidFill>
                <a:latin typeface="Arial"/>
              </a:rPr>
              <a:t>Three parts, every step guarded</a:t>
            </a:r>
          </a:p>
        </p:txBody>
      </p:sp>
      <p:sp>
        <p:nvSpPr>
          <p:cNvPr id="5" name="Pharmacy-AGENT · Synthetic tests; human operationa">
            <a:extLst>
              <a:ext uri="{FF2B5EF4-FFF2-40B4-BE49-F238E27FC236}">
                <a16:creationId xmlns:a16="http://schemas.microsoft.com/office/drawing/2014/main" id="{B44CA3A5-DF7C-B4B1-CF35-B39B47E231FF}"/>
              </a:ext>
            </a:extLst>
          </p:cNvPr>
          <p:cNvSpPr txBox="1"/>
          <p:nvPr/>
        </p:nvSpPr>
        <p:spPr>
          <a:xfrm>
            <a:off x="812800" y="6222999"/>
            <a:ext cx="10566399" cy="279399"/>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6A7385"/>
                </a:solidFill>
                <a:latin typeface="Arial"/>
              </a:defRPr>
            </a:pPr>
            <a:r>
              <a:rPr lang="en-US" sz="1200" b="0">
                <a:solidFill>
                  <a:srgbClr val="6A7385"/>
                </a:solidFill>
                <a:latin typeface="Arial"/>
              </a:rPr>
              <a:t>Pharmacy-AGENT · Synthetic tests; human operational decisions · 3 / 10</a:t>
            </a:r>
          </a:p>
        </p:txBody>
      </p:sp>
      <p:sp>
        <p:nvSpPr>
          <p:cNvPr id="6" name="Background">
            <a:extLst>
              <a:ext uri="{FF2B5EF4-FFF2-40B4-BE49-F238E27FC236}">
                <a16:creationId xmlns:a16="http://schemas.microsoft.com/office/drawing/2014/main" id="{78CB14F0-6999-E156-9039-E345A07641E6}"/>
              </a:ext>
            </a:extLst>
          </p:cNvPr>
          <p:cNvSpPr txBox="1"/>
          <p:nvPr/>
        </p:nvSpPr>
        <p:spPr>
          <a:xfrm>
            <a:off x="812800" y="1854201"/>
            <a:ext cx="10566399" cy="571500"/>
          </a:xfrm>
          <a:prstGeom prst="rect">
            <a:avLst/>
          </a:prstGeom>
          <a:solidFill>
            <a:srgbClr val="E8EBF1"/>
          </a:solidFill>
          <a:ln>
            <a:noFill/>
          </a:ln>
        </p:spPr>
        <p:txBody>
          <a:bodyPr lIns="0" tIns="0" rIns="0" bIns="0"/>
          <a:lstStyle/>
          <a:p>
            <a:endParaRPr lang="en-US"/>
          </a:p>
        </p:txBody>
      </p:sp>
      <p:sp>
        <p:nvSpPr>
          <p:cNvPr id="7" name="Input → validation → minimal facts → model → guard">
            <a:extLst>
              <a:ext uri="{FF2B5EF4-FFF2-40B4-BE49-F238E27FC236}">
                <a16:creationId xmlns:a16="http://schemas.microsoft.com/office/drawing/2014/main" id="{C0AB4FCF-4861-AD57-1148-6196C4DD1EBE}"/>
              </a:ext>
            </a:extLst>
          </p:cNvPr>
          <p:cNvSpPr txBox="1"/>
          <p:nvPr/>
        </p:nvSpPr>
        <p:spPr>
          <a:xfrm>
            <a:off x="990601" y="2006600"/>
            <a:ext cx="10210798" cy="380998"/>
          </a:xfrm>
          <a:prstGeom prst="rect">
            <a:avLst/>
          </a:prstGeom>
          <a:noFill/>
          <a:ln>
            <a:noFill/>
          </a:ln>
        </p:spPr>
        <p:txBody>
          <a:bodyPr lIns="0" tIns="0" rIns="0" bIns="0" anchor="t">
            <a:noAutofit/>
          </a:bodyPr>
          <a:lstStyle/>
          <a:p>
            <a:pPr lvl="0">
              <a:lnSpc>
                <a:spcPct val="120000"/>
              </a:lnSpc>
              <a:spcBef>
                <a:spcPts val="0"/>
              </a:spcBef>
              <a:spcAft>
                <a:spcPts val="0"/>
              </a:spcAft>
              <a:buNone/>
              <a:defRPr sz="1300" b="0">
                <a:solidFill>
                  <a:srgbClr val="14213D"/>
                </a:solidFill>
                <a:latin typeface="Courier New"/>
              </a:defRPr>
            </a:pPr>
            <a:r>
              <a:rPr lang="en-US" sz="1300" b="0">
                <a:solidFill>
                  <a:srgbClr val="14213D"/>
                </a:solidFill>
                <a:latin typeface="Courier New"/>
              </a:rPr>
              <a:t>Input → validation → minimal facts → model → guarded tools → output → human</a:t>
            </a:r>
          </a:p>
        </p:txBody>
      </p:sp>
      <p:graphicFrame>
        <p:nvGraphicFramePr>
          <p:cNvPr id="8" name="Table 7">
            <a:extLst>
              <a:ext uri="{FF2B5EF4-FFF2-40B4-BE49-F238E27FC236}">
                <a16:creationId xmlns:a16="http://schemas.microsoft.com/office/drawing/2014/main" id="{8A47B976-AB0B-6087-E5C3-591297443A8E}"/>
              </a:ext>
            </a:extLst>
          </p:cNvPr>
          <p:cNvGraphicFramePr>
            <a:graphicFrameLocks noGrp="1"/>
          </p:cNvGraphicFramePr>
          <p:nvPr/>
        </p:nvGraphicFramePr>
        <p:xfrm>
          <a:off x="812800" y="2730499"/>
          <a:ext cx="10566399" cy="1574798"/>
        </p:xfrm>
        <a:graphic>
          <a:graphicData uri="http://schemas.openxmlformats.org/drawingml/2006/table">
            <a:tbl>
              <a:tblPr/>
              <a:tblGrid>
                <a:gridCol w="2535937">
                  <a:extLst>
                    <a:ext uri="{9D8B030D-6E8A-4147-A177-3AD203B41FA5}">
                      <a16:colId xmlns:a16="http://schemas.microsoft.com/office/drawing/2014/main" val="1096448313"/>
                    </a:ext>
                  </a:extLst>
                </a:gridCol>
                <a:gridCol w="2535937">
                  <a:extLst>
                    <a:ext uri="{9D8B030D-6E8A-4147-A177-3AD203B41FA5}">
                      <a16:colId xmlns:a16="http://schemas.microsoft.com/office/drawing/2014/main" val="1922132533"/>
                    </a:ext>
                  </a:extLst>
                </a:gridCol>
                <a:gridCol w="5494528">
                  <a:extLst>
                    <a:ext uri="{9D8B030D-6E8A-4147-A177-3AD203B41FA5}">
                      <a16:colId xmlns:a16="http://schemas.microsoft.com/office/drawing/2014/main" val="3085363466"/>
                    </a:ext>
                  </a:extLst>
                </a:gridCol>
              </a:tblGrid>
              <a:tr h="393699">
                <a:tc>
                  <a:txBody>
                    <a:bodyPr/>
                    <a:lstStyle/>
                    <a:p>
                      <a:pPr lvl="0">
                        <a:lnSpc>
                          <a:spcPct val="125000"/>
                        </a:lnSpc>
                        <a:spcBef>
                          <a:spcPts val="0"/>
                        </a:spcBef>
                        <a:spcAft>
                          <a:spcPts val="0"/>
                        </a:spcAft>
                        <a:buNone/>
                        <a:defRPr sz="1300" b="1">
                          <a:solidFill>
                            <a:srgbClr val="14213D"/>
                          </a:solidFill>
                          <a:latin typeface="Arial"/>
                        </a:defRPr>
                      </a:pPr>
                      <a:r>
                        <a:rPr lang="en-US" sz="1300" b="1">
                          <a:solidFill>
                            <a:srgbClr val="14213D"/>
                          </a:solidFill>
                          <a:latin typeface="Arial"/>
                        </a:rPr>
                        <a:t>Component</a:t>
                      </a:r>
                    </a:p>
                  </a:txBody>
                  <a:tcPr>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1">
                          <a:solidFill>
                            <a:srgbClr val="14213D"/>
                          </a:solidFill>
                          <a:latin typeface="Arial"/>
                        </a:defRPr>
                      </a:pPr>
                      <a:r>
                        <a:rPr lang="en-US" sz="1300" b="1">
                          <a:solidFill>
                            <a:srgbClr val="14213D"/>
                          </a:solidFill>
                          <a:latin typeface="Arial"/>
                        </a:rPr>
                        <a:t>Owner</a:t>
                      </a:r>
                    </a:p>
                  </a:txBody>
                  <a:tcPr>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1">
                          <a:solidFill>
                            <a:srgbClr val="14213D"/>
                          </a:solidFill>
                          <a:latin typeface="Arial"/>
                        </a:defRPr>
                      </a:pPr>
                      <a:r>
                        <a:rPr lang="en-US" sz="1300" b="1">
                          <a:solidFill>
                            <a:srgbClr val="14213D"/>
                          </a:solidFill>
                          <a:latin typeface="Arial"/>
                        </a:rPr>
                        <a:t>Responsibility</a:t>
                      </a:r>
                    </a:p>
                  </a:txBody>
                  <a:tcPr>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2096825301"/>
                  </a:ext>
                </a:extLst>
              </a:tr>
              <a:tr h="393699">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Harness</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Kerrian Gordon</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Verify units, freshness, policy; calculate; run the loop</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2001623680"/>
                  </a:ext>
                </a:extLst>
              </a:tr>
              <a:tr h="393699">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Tools + instructions</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Brahim Maouloud</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Inventory reader, FDA adapter, system prompt</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2477041316"/>
                  </a:ext>
                </a:extLst>
              </a:tr>
              <a:tr h="393699">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Prevention</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Emmanuel De Jesus</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Isolate context; enforce action and output contracts</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2032191303"/>
                  </a:ext>
                </a:extLst>
              </a:tr>
            </a:tbl>
          </a:graphicData>
        </a:graphic>
      </p:graphicFrame>
      <p:sp>
        <p:nvSpPr>
          <p:cNvPr id="9" name="Next milestone: connect the three parts end to end">
            <a:extLst>
              <a:ext uri="{FF2B5EF4-FFF2-40B4-BE49-F238E27FC236}">
                <a16:creationId xmlns:a16="http://schemas.microsoft.com/office/drawing/2014/main" id="{1B42776B-B02E-645E-06CE-586C6DCFB2D2}"/>
              </a:ext>
            </a:extLst>
          </p:cNvPr>
          <p:cNvSpPr txBox="1"/>
          <p:nvPr/>
        </p:nvSpPr>
        <p:spPr>
          <a:xfrm>
            <a:off x="812800" y="4737099"/>
            <a:ext cx="10566399" cy="698500"/>
          </a:xfrm>
          <a:prstGeom prst="rect">
            <a:avLst/>
          </a:prstGeom>
          <a:noFill/>
          <a:ln>
            <a:noFill/>
          </a:ln>
        </p:spPr>
        <p:txBody>
          <a:bodyPr lIns="0" tIns="0" rIns="0" bIns="0" anchor="t">
            <a:noAutofit/>
          </a:bodyPr>
          <a:lstStyle/>
          <a:p>
            <a:pPr lvl="0">
              <a:lnSpc>
                <a:spcPct val="140000"/>
              </a:lnSpc>
              <a:spcBef>
                <a:spcPts val="0"/>
              </a:spcBef>
              <a:spcAft>
                <a:spcPts val="0"/>
              </a:spcAft>
              <a:buNone/>
              <a:defRPr sz="1400" b="0">
                <a:solidFill>
                  <a:srgbClr val="4A5568"/>
                </a:solidFill>
                <a:latin typeface="Arial"/>
              </a:defRPr>
            </a:pPr>
            <a:r>
              <a:rPr lang="en-US" sz="1400" b="0">
                <a:solidFill>
                  <a:srgbClr val="4A5568"/>
                </a:solidFill>
                <a:latin typeface="Arial"/>
              </a:rPr>
              <a:t>Next milestone: connect the three parts end to end, with a real model loop.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tools">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0D1B2E42-D0AB-5C3F-C80A-403FFA852FF2}"/>
              </a:ext>
            </a:extLst>
          </p:cNvPr>
          <p:cNvSpPr txBox="1"/>
          <p:nvPr/>
        </p:nvSpPr>
        <p:spPr>
          <a:xfrm>
            <a:off x="0" y="0"/>
            <a:ext cx="12192001" cy="6858000"/>
          </a:xfrm>
          <a:prstGeom prst="rect">
            <a:avLst/>
          </a:prstGeom>
          <a:solidFill>
            <a:srgbClr val="F7F6F2"/>
          </a:solidFill>
          <a:ln>
            <a:noFill/>
          </a:ln>
        </p:spPr>
        <p:txBody>
          <a:bodyPr lIns="0" tIns="0" rIns="0" bIns="0"/>
          <a:lstStyle/>
          <a:p>
            <a:endParaRPr lang="en-US"/>
          </a:p>
        </p:txBody>
      </p:sp>
      <p:sp>
        <p:nvSpPr>
          <p:cNvPr id="3" name="BRAHIM · THE TWO READ-ONLY TOOLS">
            <a:extLst>
              <a:ext uri="{FF2B5EF4-FFF2-40B4-BE49-F238E27FC236}">
                <a16:creationId xmlns:a16="http://schemas.microsoft.com/office/drawing/2014/main" id="{C6FB5EE0-BD25-47CA-D22C-DBEF20497414}"/>
              </a:ext>
            </a:extLst>
          </p:cNvPr>
          <p:cNvSpPr txBox="1"/>
          <p:nvPr/>
        </p:nvSpPr>
        <p:spPr>
          <a:xfrm>
            <a:off x="812800" y="812800"/>
            <a:ext cx="10566399" cy="254001"/>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B44E14"/>
                </a:solidFill>
                <a:latin typeface="Courier New"/>
              </a:defRPr>
            </a:pPr>
            <a:r>
              <a:rPr lang="en-US" sz="1200" b="0">
                <a:solidFill>
                  <a:srgbClr val="B44E14"/>
                </a:solidFill>
                <a:latin typeface="Courier New"/>
              </a:rPr>
              <a:t>BRAHIM · THE TWO READ-ONLY TOOLS</a:t>
            </a:r>
          </a:p>
        </p:txBody>
      </p:sp>
      <p:sp>
        <p:nvSpPr>
          <p:cNvPr id="4" name="Read, label, never decide">
            <a:extLst>
              <a:ext uri="{FF2B5EF4-FFF2-40B4-BE49-F238E27FC236}">
                <a16:creationId xmlns:a16="http://schemas.microsoft.com/office/drawing/2014/main" id="{6F855022-9DEE-11D7-D03C-1E944B1FA06C}"/>
              </a:ext>
            </a:extLst>
          </p:cNvPr>
          <p:cNvSpPr txBox="1"/>
          <p:nvPr/>
        </p:nvSpPr>
        <p:spPr>
          <a:xfrm>
            <a:off x="812800" y="1143000"/>
            <a:ext cx="10566399" cy="984250"/>
          </a:xfrm>
          <a:prstGeom prst="rect">
            <a:avLst/>
          </a:prstGeom>
          <a:noFill/>
          <a:ln>
            <a:noFill/>
          </a:ln>
        </p:spPr>
        <p:txBody>
          <a:bodyPr lIns="0" tIns="0" rIns="0" bIns="0" anchor="t">
            <a:noAutofit/>
          </a:bodyPr>
          <a:lstStyle/>
          <a:p>
            <a:pPr lvl="0">
              <a:lnSpc>
                <a:spcPct val="110000"/>
              </a:lnSpc>
              <a:spcBef>
                <a:spcPts val="0"/>
              </a:spcBef>
              <a:spcAft>
                <a:spcPts val="0"/>
              </a:spcAft>
              <a:buNone/>
              <a:defRPr sz="3200" b="1">
                <a:solidFill>
                  <a:srgbClr val="14213D"/>
                </a:solidFill>
                <a:latin typeface="Arial"/>
              </a:defRPr>
            </a:pPr>
            <a:r>
              <a:rPr lang="en-US" sz="3200" b="1">
                <a:solidFill>
                  <a:srgbClr val="14213D"/>
                </a:solidFill>
                <a:latin typeface="Arial"/>
              </a:rPr>
              <a:t>Read, label, never decide</a:t>
            </a:r>
          </a:p>
        </p:txBody>
      </p:sp>
      <p:sp>
        <p:nvSpPr>
          <p:cNvPr id="5" name="Pharmacy-AGENT  ·  Synthetic tests; human operatio">
            <a:extLst>
              <a:ext uri="{FF2B5EF4-FFF2-40B4-BE49-F238E27FC236}">
                <a16:creationId xmlns:a16="http://schemas.microsoft.com/office/drawing/2014/main" id="{CC6E181A-7532-74BD-6CB3-7A948CC2CAA5}"/>
              </a:ext>
            </a:extLst>
          </p:cNvPr>
          <p:cNvSpPr txBox="1"/>
          <p:nvPr/>
        </p:nvSpPr>
        <p:spPr>
          <a:xfrm>
            <a:off x="812800" y="6222999"/>
            <a:ext cx="10566399" cy="279399"/>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6A7385"/>
                </a:solidFill>
                <a:latin typeface="Arial"/>
              </a:defRPr>
            </a:pPr>
            <a:r>
              <a:rPr lang="en-US" sz="1200" b="0">
                <a:solidFill>
                  <a:srgbClr val="6A7385"/>
                </a:solidFill>
                <a:latin typeface="Arial"/>
              </a:rPr>
              <a:t>Pharmacy-AGENT · Synthetic tests; human operational decisions · 4 / 10</a:t>
            </a:r>
          </a:p>
        </p:txBody>
      </p:sp>
      <p:sp>
        <p:nvSpPr>
          <p:cNvPr id="6" name="Background">
            <a:extLst>
              <a:ext uri="{FF2B5EF4-FFF2-40B4-BE49-F238E27FC236}">
                <a16:creationId xmlns:a16="http://schemas.microsoft.com/office/drawing/2014/main" id="{37CBFAD2-B2D4-B1CD-5B34-1366B4890C5D}"/>
              </a:ext>
            </a:extLst>
          </p:cNvPr>
          <p:cNvSpPr txBox="1"/>
          <p:nvPr/>
        </p:nvSpPr>
        <p:spPr>
          <a:xfrm>
            <a:off x="812800" y="2031998"/>
            <a:ext cx="5181598" cy="2889248"/>
          </a:xfrm>
          <a:prstGeom prst="rect">
            <a:avLst/>
          </a:prstGeom>
          <a:solidFill>
            <a:srgbClr val="FFFFFF"/>
          </a:solidFill>
          <a:ln>
            <a:noFill/>
          </a:ln>
        </p:spPr>
        <p:txBody>
          <a:bodyPr lIns="0" tIns="0" rIns="0" bIns="0"/>
          <a:lstStyle/>
          <a:p>
            <a:endParaRPr lang="en-US"/>
          </a:p>
        </p:txBody>
      </p:sp>
      <p:sp>
        <p:nvSpPr>
          <p:cNvPr id="7" name="read_store_inventory">
            <a:extLst>
              <a:ext uri="{FF2B5EF4-FFF2-40B4-BE49-F238E27FC236}">
                <a16:creationId xmlns:a16="http://schemas.microsoft.com/office/drawing/2014/main" id="{B32C0ED8-00DB-3874-0534-BEF245D094F7}"/>
              </a:ext>
            </a:extLst>
          </p:cNvPr>
          <p:cNvSpPr txBox="1"/>
          <p:nvPr/>
        </p:nvSpPr>
        <p:spPr>
          <a:xfrm>
            <a:off x="1066798" y="2286000"/>
            <a:ext cx="4673599" cy="285750"/>
          </a:xfrm>
          <a:prstGeom prst="rect">
            <a:avLst/>
          </a:prstGeom>
          <a:noFill/>
          <a:ln>
            <a:noFill/>
          </a:ln>
        </p:spPr>
        <p:txBody>
          <a:bodyPr lIns="0" tIns="0" rIns="0" bIns="0" anchor="t">
            <a:noAutofit/>
          </a:bodyPr>
          <a:lstStyle/>
          <a:p>
            <a:pPr lvl="0">
              <a:lnSpc>
                <a:spcPct val="120000"/>
              </a:lnSpc>
              <a:spcBef>
                <a:spcPts val="0"/>
              </a:spcBef>
              <a:spcAft>
                <a:spcPts val="0"/>
              </a:spcAft>
              <a:buNone/>
              <a:defRPr sz="1300" b="0">
                <a:solidFill>
                  <a:srgbClr val="B44E14"/>
                </a:solidFill>
                <a:latin typeface="Courier New"/>
              </a:defRPr>
            </a:pPr>
            <a:r>
              <a:rPr lang="en-US" sz="1300" b="0">
                <a:solidFill>
                  <a:srgbClr val="B44E14"/>
                </a:solidFill>
                <a:latin typeface="Courier New"/>
              </a:rPr>
              <a:t>read_store_inventory</a:t>
            </a:r>
          </a:p>
        </p:txBody>
      </p:sp>
      <p:sp>
        <p:nvSpPr>
          <p:cNvPr id="8" name="Store 1618 only. Any other store is refused before">
            <a:extLst>
              <a:ext uri="{FF2B5EF4-FFF2-40B4-BE49-F238E27FC236}">
                <a16:creationId xmlns:a16="http://schemas.microsoft.com/office/drawing/2014/main" id="{473EEA93-38D3-70FA-D7FA-B7EA20583A09}"/>
              </a:ext>
            </a:extLst>
          </p:cNvPr>
          <p:cNvSpPr txBox="1"/>
          <p:nvPr/>
        </p:nvSpPr>
        <p:spPr>
          <a:xfrm>
            <a:off x="1066798" y="2673349"/>
            <a:ext cx="4673599" cy="571500"/>
          </a:xfrm>
          <a:prstGeom prst="rect">
            <a:avLst/>
          </a:prstGeom>
          <a:noFill/>
          <a:ln>
            <a:noFill/>
          </a:ln>
        </p:spPr>
        <p:txBody>
          <a:bodyPr lIns="0" tIns="0" rIns="0" bIns="0" anchor="t">
            <a:noAutofit/>
          </a:bodyPr>
          <a:lstStyle/>
          <a:p>
            <a:pPr lvl="0">
              <a:lnSpc>
                <a:spcPct val="140000"/>
              </a:lnSpc>
              <a:spcBef>
                <a:spcPts val="0"/>
              </a:spcBef>
              <a:spcAft>
                <a:spcPts val="0"/>
              </a:spcAft>
              <a:buNone/>
              <a:defRPr sz="1400" b="0">
                <a:solidFill>
                  <a:srgbClr val="14213D"/>
                </a:solidFill>
                <a:latin typeface="Arial"/>
              </a:defRPr>
            </a:pPr>
            <a:r>
              <a:rPr lang="en-US" sz="1400" b="0">
                <a:solidFill>
                  <a:srgbClr val="14213D"/>
                </a:solidFill>
                <a:latin typeface="Arial"/>
              </a:rPr>
              <a:t>Store 1618 only. Any other store is refused before reading.</a:t>
            </a:r>
          </a:p>
        </p:txBody>
      </p:sp>
      <p:sp>
        <p:nvSpPr>
          <p:cNvPr id="9" name="20 synthetic rows test every rule: 4 critical, 5 l">
            <a:extLst>
              <a:ext uri="{FF2B5EF4-FFF2-40B4-BE49-F238E27FC236}">
                <a16:creationId xmlns:a16="http://schemas.microsoft.com/office/drawing/2014/main" id="{2BFEE561-30F6-0B0C-2ACB-BC7D05045538}"/>
              </a:ext>
            </a:extLst>
          </p:cNvPr>
          <p:cNvSpPr txBox="1"/>
          <p:nvPr/>
        </p:nvSpPr>
        <p:spPr>
          <a:xfrm>
            <a:off x="1066798" y="3346448"/>
            <a:ext cx="4673599" cy="952498"/>
          </a:xfrm>
          <a:prstGeom prst="rect">
            <a:avLst/>
          </a:prstGeom>
          <a:noFill/>
          <a:ln>
            <a:noFill/>
          </a:ln>
        </p:spPr>
        <p:txBody>
          <a:bodyPr lIns="0" tIns="0" rIns="0" bIns="0" anchor="t">
            <a:noAutofit/>
          </a:bodyPr>
          <a:lstStyle/>
          <a:p>
            <a:pPr lvl="0">
              <a:lnSpc>
                <a:spcPct val="140000"/>
              </a:lnSpc>
              <a:spcBef>
                <a:spcPts val="0"/>
              </a:spcBef>
              <a:spcAft>
                <a:spcPts val="0"/>
              </a:spcAft>
              <a:buNone/>
              <a:defRPr sz="1400" b="0">
                <a:solidFill>
                  <a:srgbClr val="14213D"/>
                </a:solidFill>
                <a:latin typeface="Arial"/>
              </a:defRPr>
            </a:pPr>
            <a:r>
              <a:rPr lang="en-US" sz="1400" b="0">
                <a:solidFill>
                  <a:srgbClr val="14213D"/>
                </a:solidFill>
                <a:latin typeface="Arial"/>
              </a:rPr>
              <a:t>20 synthetic rows test every rule: 4 critical, 5 low, 7 above threshold, 1 unknown, 3 bad-data rows.</a:t>
            </a:r>
          </a:p>
        </p:txBody>
      </p:sp>
      <p:sp>
        <p:nvSpPr>
          <p:cNvPr id="10" name="Broken or empty data gives a safe error, never an ">
            <a:extLst>
              <a:ext uri="{FF2B5EF4-FFF2-40B4-BE49-F238E27FC236}">
                <a16:creationId xmlns:a16="http://schemas.microsoft.com/office/drawing/2014/main" id="{50067E74-F8A5-4B83-1C3F-2F2EE8F1BABE}"/>
              </a:ext>
            </a:extLst>
          </p:cNvPr>
          <p:cNvSpPr txBox="1"/>
          <p:nvPr/>
        </p:nvSpPr>
        <p:spPr>
          <a:xfrm>
            <a:off x="1066798" y="4400550"/>
            <a:ext cx="4673599" cy="698500"/>
          </a:xfrm>
          <a:prstGeom prst="rect">
            <a:avLst/>
          </a:prstGeom>
          <a:noFill/>
          <a:ln>
            <a:noFill/>
          </a:ln>
        </p:spPr>
        <p:txBody>
          <a:bodyPr lIns="0" tIns="0" rIns="0" bIns="0" anchor="t">
            <a:noAutofit/>
          </a:bodyPr>
          <a:lstStyle/>
          <a:p>
            <a:pPr lvl="0">
              <a:lnSpc>
                <a:spcPct val="140000"/>
              </a:lnSpc>
              <a:spcBef>
                <a:spcPts val="0"/>
              </a:spcBef>
              <a:spcAft>
                <a:spcPts val="0"/>
              </a:spcAft>
              <a:buNone/>
              <a:defRPr sz="1400" b="0">
                <a:solidFill>
                  <a:srgbClr val="4A5568"/>
                </a:solidFill>
                <a:latin typeface="Arial"/>
              </a:defRPr>
            </a:pPr>
            <a:r>
              <a:rPr lang="en-US" sz="1400" b="0">
                <a:solidFill>
                  <a:srgbClr val="4A5568"/>
                </a:solidFill>
                <a:latin typeface="Arial"/>
              </a:rPr>
              <a:t>Broken or empty data gives a safe error, never an "all clear."</a:t>
            </a:r>
          </a:p>
        </p:txBody>
      </p:sp>
      <p:sp>
        <p:nvSpPr>
          <p:cNvPr id="11" name="Background">
            <a:extLst>
              <a:ext uri="{FF2B5EF4-FFF2-40B4-BE49-F238E27FC236}">
                <a16:creationId xmlns:a16="http://schemas.microsoft.com/office/drawing/2014/main" id="{C9F5B379-B911-55E1-E79D-C71DDB93672F}"/>
              </a:ext>
            </a:extLst>
          </p:cNvPr>
          <p:cNvSpPr txBox="1"/>
          <p:nvPr/>
        </p:nvSpPr>
        <p:spPr>
          <a:xfrm>
            <a:off x="6197601" y="2031998"/>
            <a:ext cx="5181598" cy="2889248"/>
          </a:xfrm>
          <a:prstGeom prst="rect">
            <a:avLst/>
          </a:prstGeom>
          <a:solidFill>
            <a:srgbClr val="FFFFFF"/>
          </a:solidFill>
          <a:ln>
            <a:noFill/>
          </a:ln>
        </p:spPr>
        <p:txBody>
          <a:bodyPr lIns="0" tIns="0" rIns="0" bIns="0"/>
          <a:lstStyle/>
          <a:p>
            <a:endParaRPr lang="en-US"/>
          </a:p>
        </p:txBody>
      </p:sp>
      <p:sp>
        <p:nvSpPr>
          <p:cNvPr id="12" name="get_fda_shortage_context">
            <a:extLst>
              <a:ext uri="{FF2B5EF4-FFF2-40B4-BE49-F238E27FC236}">
                <a16:creationId xmlns:a16="http://schemas.microsoft.com/office/drawing/2014/main" id="{47385818-F304-6C76-8E3C-2B10BBAF260B}"/>
              </a:ext>
            </a:extLst>
          </p:cNvPr>
          <p:cNvSpPr txBox="1"/>
          <p:nvPr/>
        </p:nvSpPr>
        <p:spPr>
          <a:xfrm>
            <a:off x="6451599" y="2286000"/>
            <a:ext cx="4673599" cy="285750"/>
          </a:xfrm>
          <a:prstGeom prst="rect">
            <a:avLst/>
          </a:prstGeom>
          <a:noFill/>
          <a:ln>
            <a:noFill/>
          </a:ln>
        </p:spPr>
        <p:txBody>
          <a:bodyPr lIns="0" tIns="0" rIns="0" bIns="0" anchor="t">
            <a:noAutofit/>
          </a:bodyPr>
          <a:lstStyle/>
          <a:p>
            <a:pPr lvl="0">
              <a:lnSpc>
                <a:spcPct val="120000"/>
              </a:lnSpc>
              <a:spcBef>
                <a:spcPts val="0"/>
              </a:spcBef>
              <a:spcAft>
                <a:spcPts val="0"/>
              </a:spcAft>
              <a:buNone/>
              <a:defRPr sz="1300" b="0">
                <a:solidFill>
                  <a:srgbClr val="B44E14"/>
                </a:solidFill>
                <a:latin typeface="Courier New"/>
              </a:defRPr>
            </a:pPr>
            <a:r>
              <a:rPr lang="en-US" sz="1300" b="0">
                <a:solidFill>
                  <a:srgbClr val="B44E14"/>
                </a:solidFill>
                <a:latin typeface="Courier New"/>
              </a:rPr>
              <a:t>get_fda_shortage_context</a:t>
            </a:r>
          </a:p>
        </p:txBody>
      </p:sp>
      <p:sp>
        <p:nvSpPr>
          <p:cNvPr id="13" name="Real public FDA API, exact package NDC, 10-second ">
            <a:extLst>
              <a:ext uri="{FF2B5EF4-FFF2-40B4-BE49-F238E27FC236}">
                <a16:creationId xmlns:a16="http://schemas.microsoft.com/office/drawing/2014/main" id="{1FCEB909-B5C6-C8E4-9BC3-48280265FEE1}"/>
              </a:ext>
            </a:extLst>
          </p:cNvPr>
          <p:cNvSpPr txBox="1"/>
          <p:nvPr/>
        </p:nvSpPr>
        <p:spPr>
          <a:xfrm>
            <a:off x="6451599" y="2673349"/>
            <a:ext cx="4673599" cy="571500"/>
          </a:xfrm>
          <a:prstGeom prst="rect">
            <a:avLst/>
          </a:prstGeom>
          <a:noFill/>
          <a:ln>
            <a:noFill/>
          </a:ln>
        </p:spPr>
        <p:txBody>
          <a:bodyPr lIns="0" tIns="0" rIns="0" bIns="0" anchor="t">
            <a:noAutofit/>
          </a:bodyPr>
          <a:lstStyle/>
          <a:p>
            <a:pPr lvl="0">
              <a:lnSpc>
                <a:spcPct val="140000"/>
              </a:lnSpc>
              <a:spcBef>
                <a:spcPts val="0"/>
              </a:spcBef>
              <a:spcAft>
                <a:spcPts val="0"/>
              </a:spcAft>
              <a:buNone/>
              <a:defRPr sz="1400" b="0">
                <a:solidFill>
                  <a:srgbClr val="14213D"/>
                </a:solidFill>
                <a:latin typeface="Arial"/>
              </a:defRPr>
            </a:pPr>
            <a:r>
              <a:rPr lang="en-US" sz="1400" b="0">
                <a:solidFill>
                  <a:srgbClr val="14213D"/>
                </a:solidFill>
                <a:latin typeface="Arial"/>
              </a:rPr>
              <a:t>Real public FDA API, exact package NDC, 10-second timeout, one retry.</a:t>
            </a:r>
          </a:p>
        </p:txBody>
      </p:sp>
      <p:sp>
        <p:nvSpPr>
          <p:cNvPr id="14" name="Every answer is labeled: MATCH, NO_MATCH, PARTIAL ">
            <a:extLst>
              <a:ext uri="{FF2B5EF4-FFF2-40B4-BE49-F238E27FC236}">
                <a16:creationId xmlns:a16="http://schemas.microsoft.com/office/drawing/2014/main" id="{C1B4162F-1009-2CA3-9A79-4F15F0ED7F62}"/>
              </a:ext>
            </a:extLst>
          </p:cNvPr>
          <p:cNvSpPr txBox="1"/>
          <p:nvPr/>
        </p:nvSpPr>
        <p:spPr>
          <a:xfrm>
            <a:off x="6451599" y="3346448"/>
            <a:ext cx="4673599" cy="952498"/>
          </a:xfrm>
          <a:prstGeom prst="rect">
            <a:avLst/>
          </a:prstGeom>
          <a:noFill/>
          <a:ln>
            <a:noFill/>
          </a:ln>
        </p:spPr>
        <p:txBody>
          <a:bodyPr lIns="0" tIns="0" rIns="0" bIns="0" anchor="t">
            <a:noAutofit/>
          </a:bodyPr>
          <a:lstStyle/>
          <a:p>
            <a:pPr lvl="0">
              <a:lnSpc>
                <a:spcPct val="140000"/>
              </a:lnSpc>
              <a:spcBef>
                <a:spcPts val="0"/>
              </a:spcBef>
              <a:spcAft>
                <a:spcPts val="0"/>
              </a:spcAft>
              <a:buNone/>
              <a:defRPr sz="1400" b="0">
                <a:solidFill>
                  <a:srgbClr val="14213D"/>
                </a:solidFill>
                <a:latin typeface="Arial"/>
              </a:defRPr>
            </a:pPr>
            <a:r>
              <a:rPr lang="en-US" sz="1400" b="0">
                <a:solidFill>
                  <a:srgbClr val="14213D"/>
                </a:solidFill>
                <a:latin typeface="Arial"/>
              </a:rPr>
              <a:t>Every answer is labeled: MATCH, NO_MATCH, PARTIAL or UNAVAILABLE.</a:t>
            </a:r>
          </a:p>
        </p:txBody>
      </p:sp>
      <p:sp>
        <p:nvSpPr>
          <p:cNvPr id="15" name="NO_MATCH or a timeout never means &quot;no shortage.&quot;">
            <a:extLst>
              <a:ext uri="{FF2B5EF4-FFF2-40B4-BE49-F238E27FC236}">
                <a16:creationId xmlns:a16="http://schemas.microsoft.com/office/drawing/2014/main" id="{15A8CB7E-F63B-E0CB-FA62-C1B6D7303B20}"/>
              </a:ext>
            </a:extLst>
          </p:cNvPr>
          <p:cNvSpPr txBox="1"/>
          <p:nvPr/>
        </p:nvSpPr>
        <p:spPr>
          <a:xfrm>
            <a:off x="6451599" y="4400550"/>
            <a:ext cx="4673599" cy="698500"/>
          </a:xfrm>
          <a:prstGeom prst="rect">
            <a:avLst/>
          </a:prstGeom>
          <a:noFill/>
          <a:ln>
            <a:noFill/>
          </a:ln>
        </p:spPr>
        <p:txBody>
          <a:bodyPr lIns="0" tIns="0" rIns="0" bIns="0" anchor="t">
            <a:noAutofit/>
          </a:bodyPr>
          <a:lstStyle/>
          <a:p>
            <a:pPr lvl="0">
              <a:lnSpc>
                <a:spcPct val="140000"/>
              </a:lnSpc>
              <a:spcBef>
                <a:spcPts val="0"/>
              </a:spcBef>
              <a:spcAft>
                <a:spcPts val="0"/>
              </a:spcAft>
              <a:buNone/>
              <a:defRPr sz="1400" b="0">
                <a:solidFill>
                  <a:srgbClr val="4A5568"/>
                </a:solidFill>
                <a:latin typeface="Arial"/>
              </a:defRPr>
            </a:pPr>
            <a:r>
              <a:rPr lang="en-US" sz="1400" b="0">
                <a:solidFill>
                  <a:srgbClr val="4A5568"/>
                </a:solidFill>
                <a:latin typeface="Arial"/>
              </a:rPr>
              <a:t>NO_MATCH or a timeout never means "no shortage."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findin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0F29D870-C87F-E090-08DC-8E9577E69EB0}"/>
              </a:ext>
            </a:extLst>
          </p:cNvPr>
          <p:cNvSpPr txBox="1"/>
          <p:nvPr/>
        </p:nvSpPr>
        <p:spPr>
          <a:xfrm>
            <a:off x="0" y="0"/>
            <a:ext cx="12192001" cy="6858000"/>
          </a:xfrm>
          <a:prstGeom prst="rect">
            <a:avLst/>
          </a:prstGeom>
          <a:solidFill>
            <a:srgbClr val="14213D"/>
          </a:solidFill>
          <a:ln>
            <a:noFill/>
          </a:ln>
        </p:spPr>
        <p:txBody>
          <a:bodyPr lIns="0" tIns="0" rIns="0" bIns="0"/>
          <a:lstStyle/>
          <a:p>
            <a:endParaRPr lang="en-US"/>
          </a:p>
        </p:txBody>
      </p:sp>
      <p:sp>
        <p:nvSpPr>
          <p:cNvPr id="3" name="BRAHIM · WHAT THE REAL API TEST SHOWED">
            <a:extLst>
              <a:ext uri="{FF2B5EF4-FFF2-40B4-BE49-F238E27FC236}">
                <a16:creationId xmlns:a16="http://schemas.microsoft.com/office/drawing/2014/main" id="{49A49B6B-AFD3-1645-2B6E-1029C8AB4042}"/>
              </a:ext>
            </a:extLst>
          </p:cNvPr>
          <p:cNvSpPr txBox="1"/>
          <p:nvPr/>
        </p:nvSpPr>
        <p:spPr>
          <a:xfrm>
            <a:off x="812800" y="812800"/>
            <a:ext cx="10566399" cy="254001"/>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F2A65A"/>
                </a:solidFill>
                <a:latin typeface="Courier New"/>
              </a:defRPr>
            </a:pPr>
            <a:r>
              <a:rPr lang="en-US" sz="1200" b="0">
                <a:solidFill>
                  <a:srgbClr val="F2A65A"/>
                </a:solidFill>
                <a:latin typeface="Courier New"/>
              </a:rPr>
              <a:t>BRAHIM · WHAT THE REAL API TEST SHOWED</a:t>
            </a:r>
          </a:p>
        </p:txBody>
      </p:sp>
      <p:sp>
        <p:nvSpPr>
          <p:cNvPr id="4" name="Same drug, wrong format: &quot;No matches found&quot;">
            <a:extLst>
              <a:ext uri="{FF2B5EF4-FFF2-40B4-BE49-F238E27FC236}">
                <a16:creationId xmlns:a16="http://schemas.microsoft.com/office/drawing/2014/main" id="{4F32BF3B-E158-2FC6-B0D6-20E7830CC9E2}"/>
              </a:ext>
            </a:extLst>
          </p:cNvPr>
          <p:cNvSpPr txBox="1"/>
          <p:nvPr/>
        </p:nvSpPr>
        <p:spPr>
          <a:xfrm>
            <a:off x="812800" y="1143000"/>
            <a:ext cx="10566399" cy="984250"/>
          </a:xfrm>
          <a:prstGeom prst="rect">
            <a:avLst/>
          </a:prstGeom>
          <a:noFill/>
          <a:ln>
            <a:noFill/>
          </a:ln>
        </p:spPr>
        <p:txBody>
          <a:bodyPr lIns="0" tIns="0" rIns="0" bIns="0" anchor="t">
            <a:noAutofit/>
          </a:bodyPr>
          <a:lstStyle/>
          <a:p>
            <a:pPr lvl="0">
              <a:lnSpc>
                <a:spcPct val="110000"/>
              </a:lnSpc>
              <a:spcBef>
                <a:spcPts val="0"/>
              </a:spcBef>
              <a:spcAft>
                <a:spcPts val="0"/>
              </a:spcAft>
              <a:buNone/>
              <a:defRPr sz="3200" b="1">
                <a:solidFill>
                  <a:srgbClr val="F7F6F2"/>
                </a:solidFill>
                <a:latin typeface="Arial"/>
              </a:defRPr>
            </a:pPr>
            <a:r>
              <a:rPr lang="en-US" sz="3200" b="1">
                <a:solidFill>
                  <a:srgbClr val="F7F6F2"/>
                </a:solidFill>
                <a:latin typeface="Arial"/>
              </a:rPr>
              <a:t>Same drug, wrong format: "No matches found"</a:t>
            </a:r>
          </a:p>
        </p:txBody>
      </p:sp>
      <p:sp>
        <p:nvSpPr>
          <p:cNvPr id="5" name="Pharmacy-AGENT  ·  Synthetic tests; human operatio">
            <a:extLst>
              <a:ext uri="{FF2B5EF4-FFF2-40B4-BE49-F238E27FC236}">
                <a16:creationId xmlns:a16="http://schemas.microsoft.com/office/drawing/2014/main" id="{5753DA93-C8E9-6674-C096-108E8354DF63}"/>
              </a:ext>
            </a:extLst>
          </p:cNvPr>
          <p:cNvSpPr txBox="1"/>
          <p:nvPr/>
        </p:nvSpPr>
        <p:spPr>
          <a:xfrm>
            <a:off x="812800" y="6222999"/>
            <a:ext cx="10566399" cy="279399"/>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9AA5B8"/>
                </a:solidFill>
                <a:latin typeface="Arial"/>
              </a:defRPr>
            </a:pPr>
            <a:r>
              <a:rPr lang="en-US" sz="1200" b="0">
                <a:solidFill>
                  <a:srgbClr val="9AA5B8"/>
                </a:solidFill>
                <a:latin typeface="Arial"/>
              </a:rPr>
              <a:t>Pharmacy-AGENT · Synthetic tests; human operational decisions · 5 / 10</a:t>
            </a:r>
          </a:p>
        </p:txBody>
      </p:sp>
      <p:sp>
        <p:nvSpPr>
          <p:cNvPr id="6" name="Background">
            <a:extLst>
              <a:ext uri="{FF2B5EF4-FFF2-40B4-BE49-F238E27FC236}">
                <a16:creationId xmlns:a16="http://schemas.microsoft.com/office/drawing/2014/main" id="{70A8A3C3-3B53-28BA-05EA-0A73D3D13901}"/>
              </a:ext>
            </a:extLst>
          </p:cNvPr>
          <p:cNvSpPr txBox="1"/>
          <p:nvPr/>
        </p:nvSpPr>
        <p:spPr>
          <a:xfrm>
            <a:off x="812800" y="2286000"/>
            <a:ext cx="10566399" cy="622299"/>
          </a:xfrm>
          <a:prstGeom prst="rect">
            <a:avLst/>
          </a:prstGeom>
          <a:solidFill>
            <a:srgbClr val="1F2F52"/>
          </a:solidFill>
          <a:ln>
            <a:noFill/>
          </a:ln>
        </p:spPr>
        <p:txBody>
          <a:bodyPr lIns="0" tIns="0" rIns="0" bIns="0"/>
          <a:lstStyle/>
          <a:p>
            <a:endParaRPr lang="en-US"/>
          </a:p>
        </p:txBody>
      </p:sp>
      <p:sp>
        <p:nvSpPr>
          <p:cNvPr id="7" name="42023-240-01">
            <a:extLst>
              <a:ext uri="{FF2B5EF4-FFF2-40B4-BE49-F238E27FC236}">
                <a16:creationId xmlns:a16="http://schemas.microsoft.com/office/drawing/2014/main" id="{5C5337C6-B408-E1BB-D093-81735A5CDF74}"/>
              </a:ext>
            </a:extLst>
          </p:cNvPr>
          <p:cNvSpPr txBox="1"/>
          <p:nvPr/>
        </p:nvSpPr>
        <p:spPr>
          <a:xfrm>
            <a:off x="1066798" y="2438398"/>
            <a:ext cx="5079999" cy="393699"/>
          </a:xfrm>
          <a:prstGeom prst="rect">
            <a:avLst/>
          </a:prstGeom>
          <a:noFill/>
          <a:ln>
            <a:noFill/>
          </a:ln>
        </p:spPr>
        <p:txBody>
          <a:bodyPr lIns="0" tIns="0" rIns="0" bIns="0" anchor="t">
            <a:noAutofit/>
          </a:bodyPr>
          <a:lstStyle/>
          <a:p>
            <a:pPr lvl="0">
              <a:lnSpc>
                <a:spcPct val="120000"/>
              </a:lnSpc>
              <a:spcBef>
                <a:spcPts val="0"/>
              </a:spcBef>
              <a:spcAft>
                <a:spcPts val="0"/>
              </a:spcAft>
              <a:buNone/>
              <a:defRPr sz="1700" b="0">
                <a:solidFill>
                  <a:srgbClr val="F7F6F2"/>
                </a:solidFill>
                <a:latin typeface="Courier New"/>
              </a:defRPr>
            </a:pPr>
            <a:r>
              <a:rPr lang="en-US" sz="1700" b="0">
                <a:solidFill>
                  <a:srgbClr val="F7F6F2"/>
                </a:solidFill>
                <a:latin typeface="Courier New"/>
              </a:rPr>
              <a:t>42023-240-01</a:t>
            </a:r>
          </a:p>
        </p:txBody>
      </p:sp>
      <p:sp>
        <p:nvSpPr>
          <p:cNvPr id="8" name="Found: in shortage">
            <a:extLst>
              <a:ext uri="{FF2B5EF4-FFF2-40B4-BE49-F238E27FC236}">
                <a16:creationId xmlns:a16="http://schemas.microsoft.com/office/drawing/2014/main" id="{060C4B96-C63B-3DBB-C0A5-88A616A28DB4}"/>
              </a:ext>
            </a:extLst>
          </p:cNvPr>
          <p:cNvSpPr txBox="1"/>
          <p:nvPr/>
        </p:nvSpPr>
        <p:spPr>
          <a:xfrm>
            <a:off x="6477001" y="2438398"/>
            <a:ext cx="4648201" cy="393699"/>
          </a:xfrm>
          <a:prstGeom prst="rect">
            <a:avLst/>
          </a:prstGeom>
          <a:noFill/>
          <a:ln>
            <a:noFill/>
          </a:ln>
        </p:spPr>
        <p:txBody>
          <a:bodyPr lIns="0" tIns="0" rIns="0" bIns="0" anchor="t">
            <a:noAutofit/>
          </a:bodyPr>
          <a:lstStyle/>
          <a:p>
            <a:pPr lvl="0">
              <a:lnSpc>
                <a:spcPct val="120000"/>
              </a:lnSpc>
              <a:spcBef>
                <a:spcPts val="0"/>
              </a:spcBef>
              <a:spcAft>
                <a:spcPts val="0"/>
              </a:spcAft>
              <a:buNone/>
              <a:defRPr sz="1500" b="1">
                <a:solidFill>
                  <a:srgbClr val="9FD3B0"/>
                </a:solidFill>
                <a:latin typeface="Arial"/>
              </a:defRPr>
            </a:pPr>
            <a:r>
              <a:rPr lang="en-US" sz="1500" b="1">
                <a:solidFill>
                  <a:srgbClr val="9FD3B0"/>
                </a:solidFill>
                <a:latin typeface="Arial"/>
              </a:rPr>
              <a:t>Found: in shortage</a:t>
            </a:r>
          </a:p>
        </p:txBody>
      </p:sp>
      <p:sp>
        <p:nvSpPr>
          <p:cNvPr id="9" name="Background">
            <a:extLst>
              <a:ext uri="{FF2B5EF4-FFF2-40B4-BE49-F238E27FC236}">
                <a16:creationId xmlns:a16="http://schemas.microsoft.com/office/drawing/2014/main" id="{9B627E81-111C-B605-8B03-41E7ABB205BE}"/>
              </a:ext>
            </a:extLst>
          </p:cNvPr>
          <p:cNvSpPr txBox="1"/>
          <p:nvPr/>
        </p:nvSpPr>
        <p:spPr>
          <a:xfrm>
            <a:off x="812800" y="3022599"/>
            <a:ext cx="10566399" cy="622299"/>
          </a:xfrm>
          <a:prstGeom prst="rect">
            <a:avLst/>
          </a:prstGeom>
          <a:solidFill>
            <a:srgbClr val="1F2F52"/>
          </a:solidFill>
          <a:ln>
            <a:noFill/>
          </a:ln>
        </p:spPr>
        <p:txBody>
          <a:bodyPr lIns="0" tIns="0" rIns="0" bIns="0"/>
          <a:lstStyle/>
          <a:p>
            <a:endParaRPr lang="en-US"/>
          </a:p>
        </p:txBody>
      </p:sp>
      <p:sp>
        <p:nvSpPr>
          <p:cNvPr id="10" name="4202324001">
            <a:extLst>
              <a:ext uri="{FF2B5EF4-FFF2-40B4-BE49-F238E27FC236}">
                <a16:creationId xmlns:a16="http://schemas.microsoft.com/office/drawing/2014/main" id="{A37CD09A-2958-294C-BCA9-EF288BF253E9}"/>
              </a:ext>
            </a:extLst>
          </p:cNvPr>
          <p:cNvSpPr txBox="1"/>
          <p:nvPr/>
        </p:nvSpPr>
        <p:spPr>
          <a:xfrm>
            <a:off x="1066798" y="3174998"/>
            <a:ext cx="5079999" cy="393699"/>
          </a:xfrm>
          <a:prstGeom prst="rect">
            <a:avLst/>
          </a:prstGeom>
          <a:noFill/>
          <a:ln>
            <a:noFill/>
          </a:ln>
        </p:spPr>
        <p:txBody>
          <a:bodyPr lIns="0" tIns="0" rIns="0" bIns="0" anchor="t">
            <a:noAutofit/>
          </a:bodyPr>
          <a:lstStyle/>
          <a:p>
            <a:pPr lvl="0">
              <a:lnSpc>
                <a:spcPct val="120000"/>
              </a:lnSpc>
              <a:spcBef>
                <a:spcPts val="0"/>
              </a:spcBef>
              <a:spcAft>
                <a:spcPts val="0"/>
              </a:spcAft>
              <a:buNone/>
              <a:defRPr sz="1700" b="0">
                <a:solidFill>
                  <a:srgbClr val="F7F6F2"/>
                </a:solidFill>
                <a:latin typeface="Courier New"/>
              </a:defRPr>
            </a:pPr>
            <a:r>
              <a:rPr lang="en-US" sz="1700" b="0">
                <a:solidFill>
                  <a:srgbClr val="F7F6F2"/>
                </a:solidFill>
                <a:latin typeface="Courier New"/>
              </a:rPr>
              <a:t>4202324001</a:t>
            </a:r>
          </a:p>
        </p:txBody>
      </p:sp>
      <p:sp>
        <p:nvSpPr>
          <p:cNvPr id="11" name="&quot;No matches found&quot;">
            <a:extLst>
              <a:ext uri="{FF2B5EF4-FFF2-40B4-BE49-F238E27FC236}">
                <a16:creationId xmlns:a16="http://schemas.microsoft.com/office/drawing/2014/main" id="{FD597A92-6B89-4496-AAAC-980DBD861847}"/>
              </a:ext>
            </a:extLst>
          </p:cNvPr>
          <p:cNvSpPr txBox="1"/>
          <p:nvPr/>
        </p:nvSpPr>
        <p:spPr>
          <a:xfrm>
            <a:off x="6477001" y="3174998"/>
            <a:ext cx="4648201" cy="393699"/>
          </a:xfrm>
          <a:prstGeom prst="rect">
            <a:avLst/>
          </a:prstGeom>
          <a:noFill/>
          <a:ln>
            <a:noFill/>
          </a:ln>
        </p:spPr>
        <p:txBody>
          <a:bodyPr lIns="0" tIns="0" rIns="0" bIns="0" anchor="t">
            <a:noAutofit/>
          </a:bodyPr>
          <a:lstStyle/>
          <a:p>
            <a:pPr lvl="0">
              <a:lnSpc>
                <a:spcPct val="120000"/>
              </a:lnSpc>
              <a:spcBef>
                <a:spcPts val="0"/>
              </a:spcBef>
              <a:spcAft>
                <a:spcPts val="0"/>
              </a:spcAft>
              <a:buNone/>
              <a:defRPr sz="1500" b="1">
                <a:solidFill>
                  <a:srgbClr val="F2A65A"/>
                </a:solidFill>
                <a:latin typeface="Arial"/>
              </a:defRPr>
            </a:pPr>
            <a:r>
              <a:rPr lang="en-US" sz="1500" b="1">
                <a:solidFill>
                  <a:srgbClr val="F2A65A"/>
                </a:solidFill>
                <a:latin typeface="Arial"/>
              </a:rPr>
              <a:t>"No matches found"</a:t>
            </a:r>
          </a:p>
        </p:txBody>
      </p:sp>
      <p:sp>
        <p:nvSpPr>
          <p:cNvPr id="12" name="Background">
            <a:extLst>
              <a:ext uri="{FF2B5EF4-FFF2-40B4-BE49-F238E27FC236}">
                <a16:creationId xmlns:a16="http://schemas.microsoft.com/office/drawing/2014/main" id="{27788277-8561-4D45-3D71-94464EDE8EB3}"/>
              </a:ext>
            </a:extLst>
          </p:cNvPr>
          <p:cNvSpPr txBox="1"/>
          <p:nvPr/>
        </p:nvSpPr>
        <p:spPr>
          <a:xfrm>
            <a:off x="812800" y="3759199"/>
            <a:ext cx="10566399" cy="622299"/>
          </a:xfrm>
          <a:prstGeom prst="rect">
            <a:avLst/>
          </a:prstGeom>
          <a:solidFill>
            <a:srgbClr val="1F2F52"/>
          </a:solidFill>
          <a:ln>
            <a:noFill/>
          </a:ln>
        </p:spPr>
        <p:txBody>
          <a:bodyPr lIns="0" tIns="0" rIns="0" bIns="0"/>
          <a:lstStyle/>
          <a:p>
            <a:endParaRPr lang="en-US"/>
          </a:p>
        </p:txBody>
      </p:sp>
      <p:sp>
        <p:nvSpPr>
          <p:cNvPr id="13" name="42023-0240-01">
            <a:extLst>
              <a:ext uri="{FF2B5EF4-FFF2-40B4-BE49-F238E27FC236}">
                <a16:creationId xmlns:a16="http://schemas.microsoft.com/office/drawing/2014/main" id="{637C4812-F70B-2FCF-431D-32DDE9457A9F}"/>
              </a:ext>
            </a:extLst>
          </p:cNvPr>
          <p:cNvSpPr txBox="1"/>
          <p:nvPr/>
        </p:nvSpPr>
        <p:spPr>
          <a:xfrm>
            <a:off x="1066798" y="3911601"/>
            <a:ext cx="5079999" cy="393699"/>
          </a:xfrm>
          <a:prstGeom prst="rect">
            <a:avLst/>
          </a:prstGeom>
          <a:noFill/>
          <a:ln>
            <a:noFill/>
          </a:ln>
        </p:spPr>
        <p:txBody>
          <a:bodyPr lIns="0" tIns="0" rIns="0" bIns="0" anchor="t">
            <a:noAutofit/>
          </a:bodyPr>
          <a:lstStyle/>
          <a:p>
            <a:pPr lvl="0">
              <a:lnSpc>
                <a:spcPct val="120000"/>
              </a:lnSpc>
              <a:spcBef>
                <a:spcPts val="0"/>
              </a:spcBef>
              <a:spcAft>
                <a:spcPts val="0"/>
              </a:spcAft>
              <a:buNone/>
              <a:defRPr sz="1700" b="0">
                <a:solidFill>
                  <a:srgbClr val="F7F6F2"/>
                </a:solidFill>
                <a:latin typeface="Courier New"/>
              </a:defRPr>
            </a:pPr>
            <a:r>
              <a:rPr lang="en-US" sz="1700" b="0">
                <a:solidFill>
                  <a:srgbClr val="F7F6F2"/>
                </a:solidFill>
                <a:latin typeface="Courier New"/>
              </a:rPr>
              <a:t>42023-0240-01</a:t>
            </a:r>
          </a:p>
        </p:txBody>
      </p:sp>
      <p:sp>
        <p:nvSpPr>
          <p:cNvPr id="14" name="&quot;No matches found&quot;">
            <a:extLst>
              <a:ext uri="{FF2B5EF4-FFF2-40B4-BE49-F238E27FC236}">
                <a16:creationId xmlns:a16="http://schemas.microsoft.com/office/drawing/2014/main" id="{BC9F2A85-02FE-F035-6182-048E3BF6F102}"/>
              </a:ext>
            </a:extLst>
          </p:cNvPr>
          <p:cNvSpPr txBox="1"/>
          <p:nvPr/>
        </p:nvSpPr>
        <p:spPr>
          <a:xfrm>
            <a:off x="6477001" y="3911601"/>
            <a:ext cx="4648201" cy="393699"/>
          </a:xfrm>
          <a:prstGeom prst="rect">
            <a:avLst/>
          </a:prstGeom>
          <a:noFill/>
          <a:ln>
            <a:noFill/>
          </a:ln>
        </p:spPr>
        <p:txBody>
          <a:bodyPr lIns="0" tIns="0" rIns="0" bIns="0" anchor="t">
            <a:noAutofit/>
          </a:bodyPr>
          <a:lstStyle/>
          <a:p>
            <a:pPr lvl="0">
              <a:lnSpc>
                <a:spcPct val="120000"/>
              </a:lnSpc>
              <a:spcBef>
                <a:spcPts val="0"/>
              </a:spcBef>
              <a:spcAft>
                <a:spcPts val="0"/>
              </a:spcAft>
              <a:buNone/>
              <a:defRPr sz="1500" b="1">
                <a:solidFill>
                  <a:srgbClr val="F2A65A"/>
                </a:solidFill>
                <a:latin typeface="Arial"/>
              </a:defRPr>
            </a:pPr>
            <a:r>
              <a:rPr lang="en-US" sz="1500" b="1">
                <a:solidFill>
                  <a:srgbClr val="F2A65A"/>
                </a:solidFill>
                <a:latin typeface="Arial"/>
              </a:rPr>
              <a:t>"No matches found"</a:t>
            </a:r>
          </a:p>
        </p:txBody>
      </p:sp>
      <p:sp>
        <p:nvSpPr>
          <p:cNvPr id="15" name="So badly formatted NDCs are rejected before any re">
            <a:extLst>
              <a:ext uri="{FF2B5EF4-FFF2-40B4-BE49-F238E27FC236}">
                <a16:creationId xmlns:a16="http://schemas.microsoft.com/office/drawing/2014/main" id="{5A858603-F4C2-6840-AE4A-78EC626AEAE7}"/>
              </a:ext>
            </a:extLst>
          </p:cNvPr>
          <p:cNvSpPr txBox="1"/>
          <p:nvPr/>
        </p:nvSpPr>
        <p:spPr>
          <a:xfrm>
            <a:off x="812800" y="4724398"/>
            <a:ext cx="10566399" cy="793749"/>
          </a:xfrm>
          <a:prstGeom prst="rect">
            <a:avLst/>
          </a:prstGeom>
          <a:noFill/>
          <a:ln>
            <a:noFill/>
          </a:ln>
        </p:spPr>
        <p:txBody>
          <a:bodyPr lIns="0" tIns="0" rIns="0" bIns="0" anchor="t">
            <a:noAutofit/>
          </a:bodyPr>
          <a:lstStyle/>
          <a:p>
            <a:pPr lvl="0">
              <a:lnSpc>
                <a:spcPct val="140000"/>
              </a:lnSpc>
              <a:spcBef>
                <a:spcPts val="0"/>
              </a:spcBef>
              <a:spcAft>
                <a:spcPts val="0"/>
              </a:spcAft>
              <a:buNone/>
              <a:defRPr sz="1500" b="0">
                <a:solidFill>
                  <a:srgbClr val="C9D3E3"/>
                </a:solidFill>
                <a:latin typeface="Arial"/>
              </a:defRPr>
            </a:pPr>
            <a:r>
              <a:rPr lang="en-US" sz="1500" b="0">
                <a:solidFill>
                  <a:srgbClr val="C9D3E3"/>
                </a:solidFill>
                <a:latin typeface="Arial"/>
              </a:rPr>
              <a:t>So badly formatted NDCs are rejected before any request, and a control query checks the integration first.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instructions">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05AD52BB-FBF4-1673-43CA-799D3649A7C3}"/>
              </a:ext>
            </a:extLst>
          </p:cNvPr>
          <p:cNvSpPr txBox="1"/>
          <p:nvPr/>
        </p:nvSpPr>
        <p:spPr>
          <a:xfrm>
            <a:off x="0" y="0"/>
            <a:ext cx="12192001" cy="6858000"/>
          </a:xfrm>
          <a:prstGeom prst="rect">
            <a:avLst/>
          </a:prstGeom>
          <a:solidFill>
            <a:srgbClr val="F7F6F2"/>
          </a:solidFill>
          <a:ln>
            <a:noFill/>
          </a:ln>
        </p:spPr>
        <p:txBody>
          <a:bodyPr lIns="0" tIns="0" rIns="0" bIns="0"/>
          <a:lstStyle/>
          <a:p>
            <a:endParaRPr lang="en-US"/>
          </a:p>
        </p:txBody>
      </p:sp>
      <p:sp>
        <p:nvSpPr>
          <p:cNvPr id="3" name="BRAHIM · SYSTEM PROMPT INSTRUCTIONS-V1">
            <a:extLst>
              <a:ext uri="{FF2B5EF4-FFF2-40B4-BE49-F238E27FC236}">
                <a16:creationId xmlns:a16="http://schemas.microsoft.com/office/drawing/2014/main" id="{5383C847-EE54-5951-DC31-DD713E0B14A7}"/>
              </a:ext>
            </a:extLst>
          </p:cNvPr>
          <p:cNvSpPr txBox="1"/>
          <p:nvPr/>
        </p:nvSpPr>
        <p:spPr>
          <a:xfrm>
            <a:off x="812800" y="812800"/>
            <a:ext cx="10566399" cy="254001"/>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B44E14"/>
                </a:solidFill>
                <a:latin typeface="Courier New"/>
              </a:defRPr>
            </a:pPr>
            <a:r>
              <a:rPr lang="en-US" sz="1200" b="0">
                <a:solidFill>
                  <a:srgbClr val="B44E14"/>
                </a:solidFill>
                <a:latin typeface="Courier New"/>
              </a:rPr>
              <a:t>BRAHIM · SYSTEM PROMPT INSTRUCTIONS-V1</a:t>
            </a:r>
          </a:p>
        </p:txBody>
      </p:sp>
      <p:sp>
        <p:nvSpPr>
          <p:cNvPr id="4" name="The model copies facts. It never computes them.">
            <a:extLst>
              <a:ext uri="{FF2B5EF4-FFF2-40B4-BE49-F238E27FC236}">
                <a16:creationId xmlns:a16="http://schemas.microsoft.com/office/drawing/2014/main" id="{1433CE6B-4FA9-5F64-B8B0-C7914877FFA5}"/>
              </a:ext>
            </a:extLst>
          </p:cNvPr>
          <p:cNvSpPr txBox="1"/>
          <p:nvPr/>
        </p:nvSpPr>
        <p:spPr>
          <a:xfrm>
            <a:off x="812800" y="1143000"/>
            <a:ext cx="10566399" cy="984250"/>
          </a:xfrm>
          <a:prstGeom prst="rect">
            <a:avLst/>
          </a:prstGeom>
          <a:noFill/>
          <a:ln>
            <a:noFill/>
          </a:ln>
        </p:spPr>
        <p:txBody>
          <a:bodyPr lIns="0" tIns="0" rIns="0" bIns="0" anchor="t">
            <a:noAutofit/>
          </a:bodyPr>
          <a:lstStyle/>
          <a:p>
            <a:pPr lvl="0">
              <a:lnSpc>
                <a:spcPct val="110000"/>
              </a:lnSpc>
              <a:spcBef>
                <a:spcPts val="0"/>
              </a:spcBef>
              <a:spcAft>
                <a:spcPts val="0"/>
              </a:spcAft>
              <a:buNone/>
              <a:defRPr sz="3200" b="1">
                <a:solidFill>
                  <a:srgbClr val="14213D"/>
                </a:solidFill>
                <a:latin typeface="Arial"/>
              </a:defRPr>
            </a:pPr>
            <a:r>
              <a:rPr lang="en-US" sz="3200" b="1">
                <a:solidFill>
                  <a:srgbClr val="14213D"/>
                </a:solidFill>
                <a:latin typeface="Arial"/>
              </a:rPr>
              <a:t>The model copies facts. It never computes them.</a:t>
            </a:r>
          </a:p>
        </p:txBody>
      </p:sp>
      <p:sp>
        <p:nvSpPr>
          <p:cNvPr id="5" name="Pharmacy-AGENT  ·  Synthetic tests; human operatio">
            <a:extLst>
              <a:ext uri="{FF2B5EF4-FFF2-40B4-BE49-F238E27FC236}">
                <a16:creationId xmlns:a16="http://schemas.microsoft.com/office/drawing/2014/main" id="{CC64A436-0B47-8550-3E19-C44F69007D89}"/>
              </a:ext>
            </a:extLst>
          </p:cNvPr>
          <p:cNvSpPr txBox="1"/>
          <p:nvPr/>
        </p:nvSpPr>
        <p:spPr>
          <a:xfrm>
            <a:off x="812800" y="6222999"/>
            <a:ext cx="10566399" cy="279399"/>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6A7385"/>
                </a:solidFill>
                <a:latin typeface="Arial"/>
              </a:defRPr>
            </a:pPr>
            <a:r>
              <a:rPr lang="en-US" sz="1200" b="0">
                <a:solidFill>
                  <a:srgbClr val="6A7385"/>
                </a:solidFill>
                <a:latin typeface="Arial"/>
              </a:rPr>
              <a:t>Pharmacy-AGENT · Synthetic tests; human operational decisions · 6 / 10</a:t>
            </a:r>
          </a:p>
        </p:txBody>
      </p:sp>
      <p:sp>
        <p:nvSpPr>
          <p:cNvPr id="6" name="Background">
            <a:extLst>
              <a:ext uri="{FF2B5EF4-FFF2-40B4-BE49-F238E27FC236}">
                <a16:creationId xmlns:a16="http://schemas.microsoft.com/office/drawing/2014/main" id="{0C44F2F9-D38B-AB58-E107-2719FC4D8E82}"/>
              </a:ext>
            </a:extLst>
          </p:cNvPr>
          <p:cNvSpPr txBox="1"/>
          <p:nvPr/>
        </p:nvSpPr>
        <p:spPr>
          <a:xfrm>
            <a:off x="812800" y="2247901"/>
            <a:ext cx="5181598" cy="1295398"/>
          </a:xfrm>
          <a:prstGeom prst="rect">
            <a:avLst/>
          </a:prstGeom>
          <a:solidFill>
            <a:srgbClr val="FFFFFF"/>
          </a:solidFill>
          <a:ln>
            <a:noFill/>
          </a:ln>
        </p:spPr>
        <p:txBody>
          <a:bodyPr lIns="0" tIns="0" rIns="0" bIns="0"/>
          <a:lstStyle/>
          <a:p>
            <a:endParaRPr lang="en-US"/>
          </a:p>
        </p:txBody>
      </p:sp>
      <p:sp>
        <p:nvSpPr>
          <p:cNvPr id="7" name="Only two tools">
            <a:extLst>
              <a:ext uri="{FF2B5EF4-FFF2-40B4-BE49-F238E27FC236}">
                <a16:creationId xmlns:a16="http://schemas.microsoft.com/office/drawing/2014/main" id="{19E3E8A9-B585-9368-F3EC-E357F461490D}"/>
              </a:ext>
            </a:extLst>
          </p:cNvPr>
          <p:cNvSpPr txBox="1"/>
          <p:nvPr/>
        </p:nvSpPr>
        <p:spPr>
          <a:xfrm>
            <a:off x="1041400" y="2476501"/>
            <a:ext cx="4724398" cy="304801"/>
          </a:xfrm>
          <a:prstGeom prst="rect">
            <a:avLst/>
          </a:prstGeom>
          <a:noFill/>
          <a:ln>
            <a:noFill/>
          </a:ln>
        </p:spPr>
        <p:txBody>
          <a:bodyPr lIns="0" tIns="0" rIns="0" bIns="0" anchor="t">
            <a:noAutofit/>
          </a:bodyPr>
          <a:lstStyle/>
          <a:p>
            <a:pPr lvl="0">
              <a:lnSpc>
                <a:spcPct val="120000"/>
              </a:lnSpc>
              <a:spcBef>
                <a:spcPts val="0"/>
              </a:spcBef>
              <a:spcAft>
                <a:spcPts val="0"/>
              </a:spcAft>
              <a:buNone/>
              <a:defRPr sz="1600" b="1">
                <a:solidFill>
                  <a:srgbClr val="14213D"/>
                </a:solidFill>
                <a:latin typeface="Arial"/>
              </a:defRPr>
            </a:pPr>
            <a:r>
              <a:rPr lang="en-US" sz="1600" b="1">
                <a:solidFill>
                  <a:srgbClr val="14213D"/>
                </a:solidFill>
                <a:latin typeface="Arial"/>
              </a:rPr>
              <a:t>Only two tools</a:t>
            </a:r>
          </a:p>
        </p:txBody>
      </p:sp>
      <p:sp>
        <p:nvSpPr>
          <p:cNvPr id="8" name="Tool text is data, never an order.">
            <a:extLst>
              <a:ext uri="{FF2B5EF4-FFF2-40B4-BE49-F238E27FC236}">
                <a16:creationId xmlns:a16="http://schemas.microsoft.com/office/drawing/2014/main" id="{242953B9-E86C-4B5B-4A14-D27CAFF69A00}"/>
              </a:ext>
            </a:extLst>
          </p:cNvPr>
          <p:cNvSpPr txBox="1"/>
          <p:nvPr/>
        </p:nvSpPr>
        <p:spPr>
          <a:xfrm>
            <a:off x="1041400" y="2882901"/>
            <a:ext cx="4724398" cy="596901"/>
          </a:xfrm>
          <a:prstGeom prst="rect">
            <a:avLst/>
          </a:prstGeom>
          <a:noFill/>
          <a:ln>
            <a:noFill/>
          </a:ln>
        </p:spPr>
        <p:txBody>
          <a:bodyPr lIns="0" tIns="0" rIns="0" bIns="0" anchor="t">
            <a:noAutofit/>
          </a:bodyPr>
          <a:lstStyle/>
          <a:p>
            <a:pPr lvl="0">
              <a:lnSpc>
                <a:spcPct val="140000"/>
              </a:lnSpc>
              <a:spcBef>
                <a:spcPts val="0"/>
              </a:spcBef>
              <a:spcAft>
                <a:spcPts val="0"/>
              </a:spcAft>
              <a:buNone/>
              <a:defRPr sz="1300" b="0">
                <a:solidFill>
                  <a:srgbClr val="4A5568"/>
                </a:solidFill>
                <a:latin typeface="Arial"/>
              </a:defRPr>
            </a:pPr>
            <a:r>
              <a:rPr lang="en-US" sz="1300" b="0">
                <a:solidFill>
                  <a:srgbClr val="4A5568"/>
                </a:solidFill>
                <a:latin typeface="Arial"/>
              </a:rPr>
              <a:t>Tool text is data, never an order.</a:t>
            </a:r>
          </a:p>
        </p:txBody>
      </p:sp>
      <p:sp>
        <p:nvSpPr>
          <p:cNvPr id="9" name="Background">
            <a:extLst>
              <a:ext uri="{FF2B5EF4-FFF2-40B4-BE49-F238E27FC236}">
                <a16:creationId xmlns:a16="http://schemas.microsoft.com/office/drawing/2014/main" id="{FD0B253C-3FD1-A484-9299-EF0706624ACE}"/>
              </a:ext>
            </a:extLst>
          </p:cNvPr>
          <p:cNvSpPr txBox="1"/>
          <p:nvPr/>
        </p:nvSpPr>
        <p:spPr>
          <a:xfrm>
            <a:off x="6197601" y="2247901"/>
            <a:ext cx="5181598" cy="1295398"/>
          </a:xfrm>
          <a:prstGeom prst="rect">
            <a:avLst/>
          </a:prstGeom>
          <a:solidFill>
            <a:srgbClr val="FFFFFF"/>
          </a:solidFill>
          <a:ln>
            <a:noFill/>
          </a:ln>
        </p:spPr>
        <p:txBody>
          <a:bodyPr lIns="0" tIns="0" rIns="0" bIns="0"/>
          <a:lstStyle/>
          <a:p>
            <a:endParaRPr lang="en-US"/>
          </a:p>
        </p:txBody>
      </p:sp>
      <p:sp>
        <p:nvSpPr>
          <p:cNvPr id="10" name="One exact JSON report">
            <a:extLst>
              <a:ext uri="{FF2B5EF4-FFF2-40B4-BE49-F238E27FC236}">
                <a16:creationId xmlns:a16="http://schemas.microsoft.com/office/drawing/2014/main" id="{2216F673-A510-3CDD-816A-D621DAEA8A87}"/>
              </a:ext>
            </a:extLst>
          </p:cNvPr>
          <p:cNvSpPr txBox="1"/>
          <p:nvPr/>
        </p:nvSpPr>
        <p:spPr>
          <a:xfrm>
            <a:off x="6426201" y="2476501"/>
            <a:ext cx="4724398" cy="304801"/>
          </a:xfrm>
          <a:prstGeom prst="rect">
            <a:avLst/>
          </a:prstGeom>
          <a:noFill/>
          <a:ln>
            <a:noFill/>
          </a:ln>
        </p:spPr>
        <p:txBody>
          <a:bodyPr lIns="0" tIns="0" rIns="0" bIns="0" anchor="t">
            <a:noAutofit/>
          </a:bodyPr>
          <a:lstStyle/>
          <a:p>
            <a:pPr lvl="0">
              <a:lnSpc>
                <a:spcPct val="120000"/>
              </a:lnSpc>
              <a:spcBef>
                <a:spcPts val="0"/>
              </a:spcBef>
              <a:spcAft>
                <a:spcPts val="0"/>
              </a:spcAft>
              <a:buNone/>
              <a:defRPr sz="1600" b="1">
                <a:solidFill>
                  <a:srgbClr val="14213D"/>
                </a:solidFill>
                <a:latin typeface="Arial"/>
              </a:defRPr>
            </a:pPr>
            <a:r>
              <a:rPr lang="en-US" sz="1600" b="1">
                <a:solidFill>
                  <a:srgbClr val="14213D"/>
                </a:solidFill>
                <a:latin typeface="Arial"/>
              </a:rPr>
              <a:t>One exact JSON report</a:t>
            </a:r>
          </a:p>
        </p:txBody>
      </p:sp>
      <p:sp>
        <p:nvSpPr>
          <p:cNvPr id="11" name="An invented value is rejected and replaced by veri">
            <a:extLst>
              <a:ext uri="{FF2B5EF4-FFF2-40B4-BE49-F238E27FC236}">
                <a16:creationId xmlns:a16="http://schemas.microsoft.com/office/drawing/2014/main" id="{AF6C3542-1D6B-B031-260B-107EF9BFA502}"/>
              </a:ext>
            </a:extLst>
          </p:cNvPr>
          <p:cNvSpPr txBox="1"/>
          <p:nvPr/>
        </p:nvSpPr>
        <p:spPr>
          <a:xfrm>
            <a:off x="6426201" y="2882901"/>
            <a:ext cx="4724398" cy="596901"/>
          </a:xfrm>
          <a:prstGeom prst="rect">
            <a:avLst/>
          </a:prstGeom>
          <a:noFill/>
          <a:ln>
            <a:noFill/>
          </a:ln>
        </p:spPr>
        <p:txBody>
          <a:bodyPr lIns="0" tIns="0" rIns="0" bIns="0" anchor="t">
            <a:noAutofit/>
          </a:bodyPr>
          <a:lstStyle/>
          <a:p>
            <a:pPr lvl="0">
              <a:lnSpc>
                <a:spcPct val="140000"/>
              </a:lnSpc>
              <a:spcBef>
                <a:spcPts val="0"/>
              </a:spcBef>
              <a:spcAft>
                <a:spcPts val="0"/>
              </a:spcAft>
              <a:buNone/>
              <a:defRPr sz="1300" b="0">
                <a:solidFill>
                  <a:srgbClr val="4A5568"/>
                </a:solidFill>
                <a:latin typeface="Arial"/>
              </a:defRPr>
            </a:pPr>
            <a:r>
              <a:rPr lang="en-US" sz="1300" b="0">
                <a:solidFill>
                  <a:srgbClr val="4A5568"/>
                </a:solidFill>
                <a:latin typeface="Arial"/>
              </a:rPr>
              <a:t>An invented value is rejected and replaced by verified facts.</a:t>
            </a:r>
          </a:p>
        </p:txBody>
      </p:sp>
      <p:sp>
        <p:nvSpPr>
          <p:cNvPr id="12" name="Background">
            <a:extLst>
              <a:ext uri="{FF2B5EF4-FFF2-40B4-BE49-F238E27FC236}">
                <a16:creationId xmlns:a16="http://schemas.microsoft.com/office/drawing/2014/main" id="{D75A54F1-334B-1BE7-3F91-F2E4778E2267}"/>
              </a:ext>
            </a:extLst>
          </p:cNvPr>
          <p:cNvSpPr txBox="1"/>
          <p:nvPr/>
        </p:nvSpPr>
        <p:spPr>
          <a:xfrm>
            <a:off x="812800" y="3809998"/>
            <a:ext cx="10566399" cy="1460498"/>
          </a:xfrm>
          <a:prstGeom prst="rect">
            <a:avLst/>
          </a:prstGeom>
          <a:solidFill>
            <a:srgbClr val="14213D"/>
          </a:solidFill>
          <a:ln>
            <a:noFill/>
          </a:ln>
        </p:spPr>
        <p:txBody>
          <a:bodyPr lIns="0" tIns="0" rIns="0" bIns="0"/>
          <a:lstStyle/>
          <a:p>
            <a:endParaRPr lang="en-US"/>
          </a:p>
        </p:txBody>
      </p:sp>
      <p:sp>
        <p:nvSpPr>
          <p:cNvPr id="13" name="PRD v0.2 rule, tested: FDA times out on a 6.22-day">
            <a:extLst>
              <a:ext uri="{FF2B5EF4-FFF2-40B4-BE49-F238E27FC236}">
                <a16:creationId xmlns:a16="http://schemas.microsoft.com/office/drawing/2014/main" id="{00429B7C-0EF4-ED95-46B5-3B5911824377}"/>
              </a:ext>
            </a:extLst>
          </p:cNvPr>
          <p:cNvSpPr txBox="1"/>
          <p:nvPr/>
        </p:nvSpPr>
        <p:spPr>
          <a:xfrm>
            <a:off x="1066798" y="4013200"/>
            <a:ext cx="10058400" cy="285750"/>
          </a:xfrm>
          <a:prstGeom prst="rect">
            <a:avLst/>
          </a:prstGeom>
          <a:noFill/>
          <a:ln>
            <a:noFill/>
          </a:ln>
        </p:spPr>
        <p:txBody>
          <a:bodyPr lIns="0" tIns="0" rIns="0" bIns="0" anchor="t">
            <a:noAutofit/>
          </a:bodyPr>
          <a:lstStyle/>
          <a:p>
            <a:pPr lvl="0">
              <a:lnSpc>
                <a:spcPct val="120000"/>
              </a:lnSpc>
              <a:spcBef>
                <a:spcPts val="0"/>
              </a:spcBef>
              <a:spcAft>
                <a:spcPts val="0"/>
              </a:spcAft>
              <a:buNone/>
              <a:defRPr sz="1200" b="1">
                <a:solidFill>
                  <a:srgbClr val="F2A65A"/>
                </a:solidFill>
                <a:latin typeface="Arial"/>
              </a:defRPr>
            </a:pPr>
            <a:r>
              <a:rPr lang="en-US" sz="1200" b="1">
                <a:solidFill>
                  <a:srgbClr val="F2A65A"/>
                </a:solidFill>
                <a:latin typeface="Arial"/>
              </a:rPr>
              <a:t>PRD v0.2 rule, tested: FDA times out on a 6.22-day item</a:t>
            </a:r>
          </a:p>
        </p:txBody>
      </p:sp>
      <p:sp>
        <p:nvSpPr>
          <p:cNvPr id="14" name="MAINTAIN + &quot;National shortage status could not be ">
            <a:extLst>
              <a:ext uri="{FF2B5EF4-FFF2-40B4-BE49-F238E27FC236}">
                <a16:creationId xmlns:a16="http://schemas.microsoft.com/office/drawing/2014/main" id="{C391ACF8-3CE3-EF60-074E-BA81CC711FBC}"/>
              </a:ext>
            </a:extLst>
          </p:cNvPr>
          <p:cNvSpPr txBox="1"/>
          <p:nvPr/>
        </p:nvSpPr>
        <p:spPr>
          <a:xfrm>
            <a:off x="1066798" y="4444999"/>
            <a:ext cx="10058400" cy="730249"/>
          </a:xfrm>
          <a:prstGeom prst="rect">
            <a:avLst/>
          </a:prstGeom>
          <a:noFill/>
          <a:ln>
            <a:noFill/>
          </a:ln>
        </p:spPr>
        <p:txBody>
          <a:bodyPr lIns="0" tIns="0" rIns="0" bIns="0" anchor="t">
            <a:noAutofit/>
          </a:bodyPr>
          <a:lstStyle/>
          <a:p>
            <a:pPr lvl="0">
              <a:lnSpc>
                <a:spcPct val="135000"/>
              </a:lnSpc>
              <a:spcBef>
                <a:spcPts val="0"/>
              </a:spcBef>
              <a:spcAft>
                <a:spcPts val="0"/>
              </a:spcAft>
              <a:buNone/>
              <a:defRPr sz="1600" b="0">
                <a:solidFill>
                  <a:srgbClr val="F7F6F2"/>
                </a:solidFill>
                <a:latin typeface="Arial"/>
              </a:defRPr>
            </a:pPr>
            <a:r>
              <a:rPr lang="en-US" sz="1600" b="0">
                <a:solidFill>
                  <a:srgbClr val="F7F6F2"/>
                </a:solidFill>
                <a:latin typeface="Arial"/>
              </a:rPr>
              <a:t>MAINTAIN + "National shortage status could not be checked — re-run or verify on the FDA website before relying on MAINTAIN."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controls">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7AF3FC30-85FE-E812-3399-5D9634403F59}"/>
              </a:ext>
            </a:extLst>
          </p:cNvPr>
          <p:cNvSpPr txBox="1"/>
          <p:nvPr/>
        </p:nvSpPr>
        <p:spPr>
          <a:xfrm>
            <a:off x="0" y="0"/>
            <a:ext cx="12192001" cy="6858000"/>
          </a:xfrm>
          <a:prstGeom prst="rect">
            <a:avLst/>
          </a:prstGeom>
          <a:solidFill>
            <a:srgbClr val="F7F6F2"/>
          </a:solidFill>
          <a:ln>
            <a:noFill/>
          </a:ln>
        </p:spPr>
        <p:txBody>
          <a:bodyPr lIns="0" tIns="0" rIns="0" bIns="0"/>
          <a:lstStyle/>
          <a:p>
            <a:endParaRPr lang="en-US"/>
          </a:p>
        </p:txBody>
      </p:sp>
      <p:sp>
        <p:nvSpPr>
          <p:cNvPr id="3" name="EMMANUEL · INJECTION RISK PREVENTION">
            <a:extLst>
              <a:ext uri="{FF2B5EF4-FFF2-40B4-BE49-F238E27FC236}">
                <a16:creationId xmlns:a16="http://schemas.microsoft.com/office/drawing/2014/main" id="{BB3D42FF-804A-507E-EF71-C8D94F19B605}"/>
              </a:ext>
            </a:extLst>
          </p:cNvPr>
          <p:cNvSpPr txBox="1"/>
          <p:nvPr/>
        </p:nvSpPr>
        <p:spPr>
          <a:xfrm>
            <a:off x="812800" y="812800"/>
            <a:ext cx="10566399" cy="254001"/>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B44E14"/>
                </a:solidFill>
                <a:latin typeface="Courier New"/>
              </a:defRPr>
            </a:pPr>
            <a:r>
              <a:rPr lang="en-US" sz="1200" b="0">
                <a:solidFill>
                  <a:srgbClr val="B44E14"/>
                </a:solidFill>
                <a:latin typeface="Courier New"/>
              </a:rPr>
              <a:t>EMMANUEL · INJECTION RISK PREVENTION</a:t>
            </a:r>
          </a:p>
        </p:txBody>
      </p:sp>
      <p:sp>
        <p:nvSpPr>
          <p:cNvPr id="4" name="Five controls, and a tester to see them work">
            <a:extLst>
              <a:ext uri="{FF2B5EF4-FFF2-40B4-BE49-F238E27FC236}">
                <a16:creationId xmlns:a16="http://schemas.microsoft.com/office/drawing/2014/main" id="{8879BB4C-B46C-917D-0C26-F5B3692E817A}"/>
              </a:ext>
            </a:extLst>
          </p:cNvPr>
          <p:cNvSpPr txBox="1"/>
          <p:nvPr/>
        </p:nvSpPr>
        <p:spPr>
          <a:xfrm>
            <a:off x="812800" y="1143000"/>
            <a:ext cx="10566399" cy="984250"/>
          </a:xfrm>
          <a:prstGeom prst="rect">
            <a:avLst/>
          </a:prstGeom>
          <a:noFill/>
          <a:ln>
            <a:noFill/>
          </a:ln>
        </p:spPr>
        <p:txBody>
          <a:bodyPr lIns="0" tIns="0" rIns="0" bIns="0" anchor="t">
            <a:noAutofit/>
          </a:bodyPr>
          <a:lstStyle/>
          <a:p>
            <a:pPr lvl="0">
              <a:lnSpc>
                <a:spcPct val="110000"/>
              </a:lnSpc>
              <a:spcBef>
                <a:spcPts val="0"/>
              </a:spcBef>
              <a:spcAft>
                <a:spcPts val="0"/>
              </a:spcAft>
              <a:buNone/>
              <a:defRPr sz="3200" b="1">
                <a:solidFill>
                  <a:srgbClr val="14213D"/>
                </a:solidFill>
                <a:latin typeface="Arial"/>
              </a:defRPr>
            </a:pPr>
            <a:r>
              <a:rPr lang="en-US" sz="3200" b="1">
                <a:solidFill>
                  <a:srgbClr val="14213D"/>
                </a:solidFill>
                <a:latin typeface="Arial"/>
              </a:rPr>
              <a:t>Five controls, and a tester to see them work</a:t>
            </a:r>
          </a:p>
        </p:txBody>
      </p:sp>
      <p:sp>
        <p:nvSpPr>
          <p:cNvPr id="5" name="Pharmacy-AGENT  ·  Synthetic tests; human operatio">
            <a:extLst>
              <a:ext uri="{FF2B5EF4-FFF2-40B4-BE49-F238E27FC236}">
                <a16:creationId xmlns:a16="http://schemas.microsoft.com/office/drawing/2014/main" id="{1865A704-CA6B-9A43-A655-54F2899DB499}"/>
              </a:ext>
            </a:extLst>
          </p:cNvPr>
          <p:cNvSpPr txBox="1"/>
          <p:nvPr/>
        </p:nvSpPr>
        <p:spPr>
          <a:xfrm>
            <a:off x="812800" y="6222999"/>
            <a:ext cx="10566399" cy="279399"/>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6A7385"/>
                </a:solidFill>
                <a:latin typeface="Arial"/>
              </a:defRPr>
            </a:pPr>
            <a:r>
              <a:rPr lang="en-US" sz="1200" b="0">
                <a:solidFill>
                  <a:srgbClr val="6A7385"/>
                </a:solidFill>
                <a:latin typeface="Arial"/>
              </a:rPr>
              <a:t>Pharmacy-AGENT · Synthetic tests; human operational decisions · 7 / 10</a:t>
            </a:r>
          </a:p>
        </p:txBody>
      </p:sp>
      <p:graphicFrame>
        <p:nvGraphicFramePr>
          <p:cNvPr id="6" name="Table 5">
            <a:extLst>
              <a:ext uri="{FF2B5EF4-FFF2-40B4-BE49-F238E27FC236}">
                <a16:creationId xmlns:a16="http://schemas.microsoft.com/office/drawing/2014/main" id="{2B5B309D-AE85-CCB0-6E7C-66E36E8EF8F7}"/>
              </a:ext>
            </a:extLst>
          </p:cNvPr>
          <p:cNvGraphicFramePr>
            <a:graphicFrameLocks noGrp="1"/>
          </p:cNvGraphicFramePr>
          <p:nvPr/>
        </p:nvGraphicFramePr>
        <p:xfrm>
          <a:off x="812800" y="2063750"/>
          <a:ext cx="6222999" cy="2730499"/>
        </p:xfrm>
        <a:graphic>
          <a:graphicData uri="http://schemas.openxmlformats.org/drawingml/2006/table">
            <a:tbl>
              <a:tblPr/>
              <a:tblGrid>
                <a:gridCol w="1617980">
                  <a:extLst>
                    <a:ext uri="{9D8B030D-6E8A-4147-A177-3AD203B41FA5}">
                      <a16:colId xmlns:a16="http://schemas.microsoft.com/office/drawing/2014/main" val="3095630448"/>
                    </a:ext>
                  </a:extLst>
                </a:gridCol>
                <a:gridCol w="4605019">
                  <a:extLst>
                    <a:ext uri="{9D8B030D-6E8A-4147-A177-3AD203B41FA5}">
                      <a16:colId xmlns:a16="http://schemas.microsoft.com/office/drawing/2014/main" val="2298583822"/>
                    </a:ext>
                  </a:extLst>
                </a:gridCol>
              </a:tblGrid>
              <a:tr h="455083">
                <a:tc>
                  <a:txBody>
                    <a:bodyPr/>
                    <a:lstStyle/>
                    <a:p>
                      <a:pPr lvl="0">
                        <a:lnSpc>
                          <a:spcPct val="125000"/>
                        </a:lnSpc>
                        <a:spcBef>
                          <a:spcPts val="0"/>
                        </a:spcBef>
                        <a:spcAft>
                          <a:spcPts val="0"/>
                        </a:spcAft>
                        <a:buNone/>
                        <a:defRPr sz="1300" b="1">
                          <a:solidFill>
                            <a:srgbClr val="14213D"/>
                          </a:solidFill>
                          <a:latin typeface="Arial"/>
                        </a:defRPr>
                      </a:pPr>
                      <a:r>
                        <a:rPr lang="en-US" sz="1300" b="1">
                          <a:solidFill>
                            <a:srgbClr val="14213D"/>
                          </a:solidFill>
                          <a:latin typeface="Arial"/>
                        </a:rPr>
                        <a:t>Layer</a:t>
                      </a:r>
                    </a:p>
                  </a:txBody>
                  <a:tcPr>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1">
                          <a:solidFill>
                            <a:srgbClr val="14213D"/>
                          </a:solidFill>
                          <a:latin typeface="Arial"/>
                        </a:defRPr>
                      </a:pPr>
                      <a:r>
                        <a:rPr lang="en-US" sz="1300" b="1">
                          <a:solidFill>
                            <a:srgbClr val="14213D"/>
                          </a:solidFill>
                          <a:latin typeface="Arial"/>
                        </a:rPr>
                        <a:t>Control</a:t>
                      </a:r>
                    </a:p>
                  </a:txBody>
                  <a:tcPr>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4035161911"/>
                  </a:ext>
                </a:extLst>
              </a:tr>
              <a:tr h="455083">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Intake</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Bounded JSON, Unicode checks, 15 instruction signals</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2689776201"/>
                  </a:ext>
                </a:extLst>
              </a:tr>
              <a:tr h="455083">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Context</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All external free text omitted, even accepted labels</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2070643505"/>
                  </a:ext>
                </a:extLst>
              </a:tr>
              <a:tr h="455083">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Evidence</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Uncertain required facts trigger manual review</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905479701"/>
                  </a:ext>
                </a:extLst>
              </a:tr>
              <a:tr h="455083">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Actions</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Captured arguments authorized before fixed read calls</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43483434"/>
                  </a:ext>
                </a:extLst>
              </a:tr>
              <a:tr h="455083">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Output</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Altered facts, hidden warnings, false claims rejected</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2742334973"/>
                  </a:ext>
                </a:extLst>
              </a:tr>
            </a:tbl>
          </a:graphicData>
        </a:graphic>
      </p:graphicFrame>
      <p:sp>
        <p:nvSpPr>
          <p:cNvPr id="7" name="Background">
            <a:extLst>
              <a:ext uri="{FF2B5EF4-FFF2-40B4-BE49-F238E27FC236}">
                <a16:creationId xmlns:a16="http://schemas.microsoft.com/office/drawing/2014/main" id="{631AFCF8-0081-0FBF-D788-9F8D071EB228}"/>
              </a:ext>
            </a:extLst>
          </p:cNvPr>
          <p:cNvSpPr txBox="1"/>
          <p:nvPr/>
        </p:nvSpPr>
        <p:spPr>
          <a:xfrm>
            <a:off x="7302499" y="2063750"/>
            <a:ext cx="4076701" cy="2730499"/>
          </a:xfrm>
          <a:prstGeom prst="rect">
            <a:avLst/>
          </a:prstGeom>
          <a:solidFill>
            <a:srgbClr val="FFFFFF"/>
          </a:solidFill>
          <a:ln>
            <a:noFill/>
          </a:ln>
        </p:spPr>
        <p:txBody>
          <a:bodyPr lIns="0" tIns="0" rIns="0" bIns="0"/>
          <a:lstStyle/>
          <a:p>
            <a:endParaRPr lang="en-US"/>
          </a:p>
        </p:txBody>
      </p:sp>
      <p:sp>
        <p:nvSpPr>
          <p:cNvPr id="8" name="Local Tester">
            <a:extLst>
              <a:ext uri="{FF2B5EF4-FFF2-40B4-BE49-F238E27FC236}">
                <a16:creationId xmlns:a16="http://schemas.microsoft.com/office/drawing/2014/main" id="{5C0D03A9-8C8E-7637-B451-37A068986C34}"/>
              </a:ext>
            </a:extLst>
          </p:cNvPr>
          <p:cNvSpPr txBox="1"/>
          <p:nvPr/>
        </p:nvSpPr>
        <p:spPr>
          <a:xfrm>
            <a:off x="7531099" y="2286000"/>
            <a:ext cx="3619501" cy="330199"/>
          </a:xfrm>
          <a:prstGeom prst="rect">
            <a:avLst/>
          </a:prstGeom>
          <a:noFill/>
          <a:ln>
            <a:noFill/>
          </a:ln>
        </p:spPr>
        <p:txBody>
          <a:bodyPr lIns="0" tIns="0" rIns="0" bIns="0" anchor="t">
            <a:noAutofit/>
          </a:bodyPr>
          <a:lstStyle/>
          <a:p>
            <a:pPr lvl="0">
              <a:lnSpc>
                <a:spcPct val="120000"/>
              </a:lnSpc>
              <a:spcBef>
                <a:spcPts val="0"/>
              </a:spcBef>
              <a:spcAft>
                <a:spcPts val="0"/>
              </a:spcAft>
              <a:buNone/>
              <a:defRPr sz="1600" b="1">
                <a:solidFill>
                  <a:srgbClr val="14213D"/>
                </a:solidFill>
                <a:latin typeface="Arial"/>
              </a:defRPr>
            </a:pPr>
            <a:r>
              <a:rPr lang="en-US" sz="1600" b="1">
                <a:solidFill>
                  <a:srgbClr val="14213D"/>
                </a:solidFill>
                <a:latin typeface="Arial"/>
              </a:rPr>
              <a:t>Local Tester</a:t>
            </a:r>
          </a:p>
        </p:txBody>
      </p:sp>
      <p:sp>
        <p:nvSpPr>
          <p:cNvPr id="9" name="Try a forbidden order, SQL or shell call, set supp">
            <a:extLst>
              <a:ext uri="{FF2B5EF4-FFF2-40B4-BE49-F238E27FC236}">
                <a16:creationId xmlns:a16="http://schemas.microsoft.com/office/drawing/2014/main" id="{639FB291-E109-E433-7631-BCE452720435}"/>
              </a:ext>
            </a:extLst>
          </p:cNvPr>
          <p:cNvSpPr txBox="1"/>
          <p:nvPr/>
        </p:nvSpPr>
        <p:spPr>
          <a:xfrm>
            <a:off x="7531099" y="2717798"/>
            <a:ext cx="3619501" cy="1193799"/>
          </a:xfrm>
          <a:prstGeom prst="rect">
            <a:avLst/>
          </a:prstGeom>
          <a:noFill/>
          <a:ln>
            <a:noFill/>
          </a:ln>
        </p:spPr>
        <p:txBody>
          <a:bodyPr lIns="0" tIns="0" rIns="0" bIns="0" anchor="t">
            <a:noAutofit/>
          </a:bodyPr>
          <a:lstStyle/>
          <a:p>
            <a:pPr lvl="0">
              <a:lnSpc>
                <a:spcPct val="140000"/>
              </a:lnSpc>
              <a:spcBef>
                <a:spcPts val="0"/>
              </a:spcBef>
              <a:spcAft>
                <a:spcPts val="0"/>
              </a:spcAft>
              <a:buNone/>
              <a:defRPr sz="1300" b="0">
                <a:solidFill>
                  <a:srgbClr val="4A5568"/>
                </a:solidFill>
                <a:latin typeface="Arial"/>
              </a:defRPr>
            </a:pPr>
            <a:r>
              <a:rPr lang="en-US" sz="1300" b="0">
                <a:solidFill>
                  <a:srgbClr val="4A5568"/>
                </a:solidFill>
                <a:latin typeface="Arial"/>
              </a:rPr>
              <a:t>Try a forbidden order, SQL or shell call, set supply to 999, or hide a warning, and watch real Python controls respond.</a:t>
            </a:r>
          </a:p>
        </p:txBody>
      </p:sp>
      <p:sp>
        <p:nvSpPr>
          <p:cNvPr id="10" name="Loopback only; fixed synthetic facts; no live mode">
            <a:extLst>
              <a:ext uri="{FF2B5EF4-FFF2-40B4-BE49-F238E27FC236}">
                <a16:creationId xmlns:a16="http://schemas.microsoft.com/office/drawing/2014/main" id="{2F64FAE6-2D6B-A733-0726-53E3DBCA9164}"/>
              </a:ext>
            </a:extLst>
          </p:cNvPr>
          <p:cNvSpPr txBox="1"/>
          <p:nvPr/>
        </p:nvSpPr>
        <p:spPr>
          <a:xfrm>
            <a:off x="7531099" y="4051299"/>
            <a:ext cx="3619501" cy="635000"/>
          </a:xfrm>
          <a:prstGeom prst="rect">
            <a:avLst/>
          </a:prstGeom>
          <a:noFill/>
          <a:ln>
            <a:noFill/>
          </a:ln>
        </p:spPr>
        <p:txBody>
          <a:bodyPr lIns="0" tIns="0" rIns="0" bIns="0" anchor="t">
            <a:noAutofit/>
          </a:bodyPr>
          <a:lstStyle/>
          <a:p>
            <a:pPr lvl="0">
              <a:lnSpc>
                <a:spcPct val="140000"/>
              </a:lnSpc>
              <a:spcBef>
                <a:spcPts val="0"/>
              </a:spcBef>
              <a:spcAft>
                <a:spcPts val="0"/>
              </a:spcAft>
              <a:buNone/>
              <a:defRPr sz="1200" b="0">
                <a:solidFill>
                  <a:srgbClr val="6A7385"/>
                </a:solidFill>
                <a:latin typeface="Arial"/>
              </a:defRPr>
            </a:pPr>
            <a:r>
              <a:rPr lang="en-US" sz="1200" b="0">
                <a:solidFill>
                  <a:srgbClr val="6A7385"/>
                </a:solidFill>
                <a:latin typeface="Arial"/>
              </a:rPr>
              <a:t>Loopback only; fixed synthetic facts; no live model or writes.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tests">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2AF22EDE-71D4-5DDD-4060-32B0AFC23C2F}"/>
              </a:ext>
            </a:extLst>
          </p:cNvPr>
          <p:cNvSpPr txBox="1"/>
          <p:nvPr/>
        </p:nvSpPr>
        <p:spPr>
          <a:xfrm>
            <a:off x="0" y="0"/>
            <a:ext cx="12192001" cy="6858000"/>
          </a:xfrm>
          <a:prstGeom prst="rect">
            <a:avLst/>
          </a:prstGeom>
          <a:solidFill>
            <a:srgbClr val="F7F6F2"/>
          </a:solidFill>
          <a:ln>
            <a:noFill/>
          </a:ln>
        </p:spPr>
        <p:txBody>
          <a:bodyPr lIns="0" tIns="0" rIns="0" bIns="0"/>
          <a:lstStyle/>
          <a:p>
            <a:endParaRPr lang="en-US"/>
          </a:p>
        </p:txBody>
      </p:sp>
      <p:sp>
        <p:nvSpPr>
          <p:cNvPr id="3" name="EMMANUEL · RISK TESTS">
            <a:extLst>
              <a:ext uri="{FF2B5EF4-FFF2-40B4-BE49-F238E27FC236}">
                <a16:creationId xmlns:a16="http://schemas.microsoft.com/office/drawing/2014/main" id="{15B127C8-1B23-5252-BBD7-A7422CF03510}"/>
              </a:ext>
            </a:extLst>
          </p:cNvPr>
          <p:cNvSpPr txBox="1"/>
          <p:nvPr/>
        </p:nvSpPr>
        <p:spPr>
          <a:xfrm>
            <a:off x="812800" y="812800"/>
            <a:ext cx="10566399" cy="254001"/>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B44E14"/>
                </a:solidFill>
                <a:latin typeface="Courier New"/>
              </a:defRPr>
            </a:pPr>
            <a:r>
              <a:rPr lang="en-US" sz="1200" b="0">
                <a:solidFill>
                  <a:srgbClr val="B44E14"/>
                </a:solidFill>
                <a:latin typeface="Courier New"/>
              </a:rPr>
              <a:t>EMMANUEL · RISK TESTS</a:t>
            </a:r>
          </a:p>
        </p:txBody>
      </p:sp>
      <p:sp>
        <p:nvSpPr>
          <p:cNvPr id="4" name="Attacks we tried, and what happened">
            <a:extLst>
              <a:ext uri="{FF2B5EF4-FFF2-40B4-BE49-F238E27FC236}">
                <a16:creationId xmlns:a16="http://schemas.microsoft.com/office/drawing/2014/main" id="{4AAEAAC1-77D1-7B25-3267-1F79F092B797}"/>
              </a:ext>
            </a:extLst>
          </p:cNvPr>
          <p:cNvSpPr txBox="1"/>
          <p:nvPr/>
        </p:nvSpPr>
        <p:spPr>
          <a:xfrm>
            <a:off x="812800" y="1143000"/>
            <a:ext cx="10566399" cy="984250"/>
          </a:xfrm>
          <a:prstGeom prst="rect">
            <a:avLst/>
          </a:prstGeom>
          <a:noFill/>
          <a:ln>
            <a:noFill/>
          </a:ln>
        </p:spPr>
        <p:txBody>
          <a:bodyPr lIns="0" tIns="0" rIns="0" bIns="0" anchor="t">
            <a:noAutofit/>
          </a:bodyPr>
          <a:lstStyle/>
          <a:p>
            <a:pPr lvl="0">
              <a:lnSpc>
                <a:spcPct val="110000"/>
              </a:lnSpc>
              <a:spcBef>
                <a:spcPts val="0"/>
              </a:spcBef>
              <a:spcAft>
                <a:spcPts val="0"/>
              </a:spcAft>
              <a:buNone/>
              <a:defRPr sz="3200" b="1">
                <a:solidFill>
                  <a:srgbClr val="14213D"/>
                </a:solidFill>
                <a:latin typeface="Arial"/>
              </a:defRPr>
            </a:pPr>
            <a:r>
              <a:rPr lang="en-US" sz="3200" b="1">
                <a:solidFill>
                  <a:srgbClr val="14213D"/>
                </a:solidFill>
                <a:latin typeface="Arial"/>
              </a:rPr>
              <a:t>Attacks we tried, and what happened</a:t>
            </a:r>
          </a:p>
        </p:txBody>
      </p:sp>
      <p:sp>
        <p:nvSpPr>
          <p:cNvPr id="5" name="Pharmacy-AGENT  ·  Synthetic tests; human operatio">
            <a:extLst>
              <a:ext uri="{FF2B5EF4-FFF2-40B4-BE49-F238E27FC236}">
                <a16:creationId xmlns:a16="http://schemas.microsoft.com/office/drawing/2014/main" id="{F37551C4-5D7B-14F7-ED9C-E5153DACE74A}"/>
              </a:ext>
            </a:extLst>
          </p:cNvPr>
          <p:cNvSpPr txBox="1"/>
          <p:nvPr/>
        </p:nvSpPr>
        <p:spPr>
          <a:xfrm>
            <a:off x="812800" y="6222999"/>
            <a:ext cx="10566399" cy="279399"/>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6A7385"/>
                </a:solidFill>
                <a:latin typeface="Arial"/>
              </a:defRPr>
            </a:pPr>
            <a:r>
              <a:rPr lang="en-US" sz="1200" b="0">
                <a:solidFill>
                  <a:srgbClr val="6A7385"/>
                </a:solidFill>
                <a:latin typeface="Arial"/>
              </a:rPr>
              <a:t>Pharmacy-AGENT · Synthetic tests; human operational decisions · 8 / 10</a:t>
            </a:r>
          </a:p>
        </p:txBody>
      </p:sp>
      <p:graphicFrame>
        <p:nvGraphicFramePr>
          <p:cNvPr id="6" name="Table 5">
            <a:extLst>
              <a:ext uri="{FF2B5EF4-FFF2-40B4-BE49-F238E27FC236}">
                <a16:creationId xmlns:a16="http://schemas.microsoft.com/office/drawing/2014/main" id="{AD284F17-48FD-FAFE-A683-B736B7F65818}"/>
              </a:ext>
            </a:extLst>
          </p:cNvPr>
          <p:cNvGraphicFramePr>
            <a:graphicFrameLocks noGrp="1"/>
          </p:cNvGraphicFramePr>
          <p:nvPr/>
        </p:nvGraphicFramePr>
        <p:xfrm>
          <a:off x="812800" y="2006600"/>
          <a:ext cx="10566399" cy="2952748"/>
        </p:xfrm>
        <a:graphic>
          <a:graphicData uri="http://schemas.openxmlformats.org/drawingml/2006/table">
            <a:tbl>
              <a:tblPr/>
              <a:tblGrid>
                <a:gridCol w="3592576">
                  <a:extLst>
                    <a:ext uri="{9D8B030D-6E8A-4147-A177-3AD203B41FA5}">
                      <a16:colId xmlns:a16="http://schemas.microsoft.com/office/drawing/2014/main" val="1627093263"/>
                    </a:ext>
                  </a:extLst>
                </a:gridCol>
                <a:gridCol w="6973822">
                  <a:extLst>
                    <a:ext uri="{9D8B030D-6E8A-4147-A177-3AD203B41FA5}">
                      <a16:colId xmlns:a16="http://schemas.microsoft.com/office/drawing/2014/main" val="2221452805"/>
                    </a:ext>
                  </a:extLst>
                </a:gridCol>
              </a:tblGrid>
              <a:tr h="421822">
                <a:tc>
                  <a:txBody>
                    <a:bodyPr/>
                    <a:lstStyle/>
                    <a:p>
                      <a:pPr lvl="0">
                        <a:lnSpc>
                          <a:spcPct val="125000"/>
                        </a:lnSpc>
                        <a:spcBef>
                          <a:spcPts val="0"/>
                        </a:spcBef>
                        <a:spcAft>
                          <a:spcPts val="0"/>
                        </a:spcAft>
                        <a:buNone/>
                        <a:defRPr sz="1300" b="1">
                          <a:solidFill>
                            <a:srgbClr val="14213D"/>
                          </a:solidFill>
                          <a:latin typeface="Arial"/>
                        </a:defRPr>
                      </a:pPr>
                      <a:r>
                        <a:rPr lang="en-US" sz="1300" b="1">
                          <a:solidFill>
                            <a:srgbClr val="14213D"/>
                          </a:solidFill>
                          <a:latin typeface="Arial"/>
                        </a:rPr>
                        <a:t>Attempt</a:t>
                      </a:r>
                    </a:p>
                  </a:txBody>
                  <a:tcPr>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1">
                          <a:solidFill>
                            <a:srgbClr val="14213D"/>
                          </a:solidFill>
                          <a:latin typeface="Arial"/>
                        </a:defRPr>
                      </a:pPr>
                      <a:r>
                        <a:rPr lang="en-US" sz="1300" b="1">
                          <a:solidFill>
                            <a:srgbClr val="14213D"/>
                          </a:solidFill>
                          <a:latin typeface="Arial"/>
                        </a:rPr>
                        <a:t>Expected result</a:t>
                      </a:r>
                    </a:p>
                  </a:txBody>
                  <a:tcPr>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2897098061"/>
                  </a:ext>
                </a:extLst>
              </a:tr>
              <a:tr h="421822">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Hidden characters</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Exception raised; code points shown; raw text excluded</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3295465522"/>
                  </a:ext>
                </a:extLst>
              </a:tr>
              <a:tr h="421822">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Role or instruction spoofing</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Signals flagged; all external text still omitted</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1859756785"/>
                  </a:ext>
                </a:extLst>
              </a:tr>
              <a:tr h="421822">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Malformed or oversized JSON</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Duplicate keys, bad numbers and size excess rejected</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2121304661"/>
                  </a:ext>
                </a:extLst>
              </a:tr>
              <a:tr h="421822">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Order, write, SQL or shell call</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Denied; forbidden call never dispatched</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2319582304"/>
                  </a:ext>
                </a:extLst>
              </a:tr>
              <a:tr h="421822">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Wrong store or package NDC</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Rejected before dispatch</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735298320"/>
                  </a:ext>
                </a:extLst>
              </a:tr>
              <a:tr h="421822">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Supply set to 999, warning hidden</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tc>
                  <a:txBody>
                    <a:bodyPr/>
                    <a:lstStyle/>
                    <a:p>
                      <a:pPr lvl="0">
                        <a:lnSpc>
                          <a:spcPct val="125000"/>
                        </a:lnSpc>
                        <a:spcBef>
                          <a:spcPts val="0"/>
                        </a:spcBef>
                        <a:spcAft>
                          <a:spcPts val="0"/>
                        </a:spcAft>
                        <a:buNone/>
                        <a:defRPr sz="1300" b="0">
                          <a:solidFill>
                            <a:srgbClr val="14213D"/>
                          </a:solidFill>
                          <a:latin typeface="Arial"/>
                        </a:defRPr>
                      </a:pPr>
                      <a:r>
                        <a:rPr lang="en-US" sz="1300" b="0">
                          <a:solidFill>
                            <a:srgbClr val="14213D"/>
                          </a:solidFill>
                          <a:latin typeface="Arial"/>
                        </a:rPr>
                        <a:t>Proposal rejected; safe fallback shown</a:t>
                      </a:r>
                    </a:p>
                  </a:txBody>
                  <a:tcPr>
                    <a:lnT w="7200" cap="flat" cmpd="sng" algn="ctr">
                      <a:solidFill>
                        <a:srgbClr val="DCDFE5"/>
                      </a:solidFill>
                      <a:prstDash val="solid"/>
                      <a:round/>
                      <a:headEnd type="none" w="med" len="med"/>
                      <a:tailEnd type="none" w="med" len="med"/>
                    </a:lnT>
                    <a:lnB w="7200" cap="flat" cmpd="sng" algn="ctr">
                      <a:solidFill>
                        <a:srgbClr val="DCDFE5"/>
                      </a:solidFill>
                      <a:prstDash val="solid"/>
                      <a:round/>
                      <a:headEnd type="none" w="med" len="med"/>
                      <a:tailEnd type="none" w="med" len="med"/>
                    </a:lnB>
                    <a:solidFill>
                      <a:srgbClr val="F7F6F2"/>
                    </a:solidFill>
                  </a:tcPr>
                </a:tc>
                <a:extLst>
                  <a:ext uri="{0D108BD9-81ED-4DB2-BD59-A6C34878D82A}">
                    <a16:rowId xmlns:a16="http://schemas.microsoft.com/office/drawing/2014/main" val="1324756527"/>
                  </a:ext>
                </a:extLst>
              </a:tr>
            </a:tbl>
          </a:graphicData>
        </a:graphic>
      </p:graphicFrame>
      <p:sp>
        <p:nvSpPr>
          <p:cNvPr id="7" name="A passing fixture is not proof that every future a">
            <a:extLst>
              <a:ext uri="{FF2B5EF4-FFF2-40B4-BE49-F238E27FC236}">
                <a16:creationId xmlns:a16="http://schemas.microsoft.com/office/drawing/2014/main" id="{A7336671-09D8-A403-9E4D-D4AF2217551A}"/>
              </a:ext>
            </a:extLst>
          </p:cNvPr>
          <p:cNvSpPr txBox="1"/>
          <p:nvPr/>
        </p:nvSpPr>
        <p:spPr>
          <a:xfrm>
            <a:off x="812800" y="5295898"/>
            <a:ext cx="10566399" cy="558799"/>
          </a:xfrm>
          <a:prstGeom prst="rect">
            <a:avLst/>
          </a:prstGeom>
          <a:noFill/>
          <a:ln>
            <a:noFill/>
          </a:ln>
        </p:spPr>
        <p:txBody>
          <a:bodyPr lIns="0" tIns="0" rIns="0" bIns="0" anchor="t">
            <a:noAutofit/>
          </a:bodyPr>
          <a:lstStyle/>
          <a:p>
            <a:pPr lvl="0">
              <a:lnSpc>
                <a:spcPct val="140000"/>
              </a:lnSpc>
              <a:spcBef>
                <a:spcPts val="0"/>
              </a:spcBef>
              <a:spcAft>
                <a:spcPts val="0"/>
              </a:spcAft>
              <a:buNone/>
              <a:defRPr sz="1300" b="0">
                <a:solidFill>
                  <a:srgbClr val="4A5568"/>
                </a:solidFill>
                <a:latin typeface="Arial"/>
              </a:defRPr>
            </a:pPr>
            <a:r>
              <a:rPr lang="en-US" sz="1300" b="0">
                <a:solidFill>
                  <a:srgbClr val="4A5568"/>
                </a:solidFill>
                <a:latin typeface="Arial"/>
              </a:rPr>
              <a:t>A passing fixture is not proof that every future attack will be detected.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evidence">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09E0F16F-A9EA-C6BE-F3B0-211812E9F4F8}"/>
              </a:ext>
            </a:extLst>
          </p:cNvPr>
          <p:cNvSpPr txBox="1"/>
          <p:nvPr/>
        </p:nvSpPr>
        <p:spPr>
          <a:xfrm>
            <a:off x="0" y="0"/>
            <a:ext cx="12192001" cy="6858000"/>
          </a:xfrm>
          <a:prstGeom prst="rect">
            <a:avLst/>
          </a:prstGeom>
          <a:solidFill>
            <a:srgbClr val="14213D"/>
          </a:solidFill>
          <a:ln>
            <a:noFill/>
          </a:ln>
        </p:spPr>
        <p:txBody>
          <a:bodyPr lIns="0" tIns="0" rIns="0" bIns="0"/>
          <a:lstStyle/>
          <a:p>
            <a:endParaRPr lang="en-US"/>
          </a:p>
        </p:txBody>
      </p:sp>
      <p:sp>
        <p:nvSpPr>
          <p:cNvPr id="3" name="EVIDENCE AND NEXT STEPS">
            <a:extLst>
              <a:ext uri="{FF2B5EF4-FFF2-40B4-BE49-F238E27FC236}">
                <a16:creationId xmlns:a16="http://schemas.microsoft.com/office/drawing/2014/main" id="{FF86C9BD-9161-240E-C005-C828670A2AB1}"/>
              </a:ext>
            </a:extLst>
          </p:cNvPr>
          <p:cNvSpPr txBox="1"/>
          <p:nvPr/>
        </p:nvSpPr>
        <p:spPr>
          <a:xfrm>
            <a:off x="812800" y="812800"/>
            <a:ext cx="10566399" cy="254001"/>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F2A65A"/>
                </a:solidFill>
                <a:latin typeface="Courier New"/>
              </a:defRPr>
            </a:pPr>
            <a:r>
              <a:rPr lang="en-US" sz="1200" b="0">
                <a:solidFill>
                  <a:srgbClr val="F2A65A"/>
                </a:solidFill>
                <a:latin typeface="Courier New"/>
              </a:rPr>
              <a:t>EVIDENCE AND NEXT STEPS</a:t>
            </a:r>
          </a:p>
        </p:txBody>
      </p:sp>
      <p:sp>
        <p:nvSpPr>
          <p:cNvPr id="4" name="Tested parts, ready to connect">
            <a:extLst>
              <a:ext uri="{FF2B5EF4-FFF2-40B4-BE49-F238E27FC236}">
                <a16:creationId xmlns:a16="http://schemas.microsoft.com/office/drawing/2014/main" id="{CBE87DD7-BB97-4A78-2A76-01C042573195}"/>
              </a:ext>
            </a:extLst>
          </p:cNvPr>
          <p:cNvSpPr txBox="1"/>
          <p:nvPr/>
        </p:nvSpPr>
        <p:spPr>
          <a:xfrm>
            <a:off x="812800" y="1143000"/>
            <a:ext cx="10566399" cy="984250"/>
          </a:xfrm>
          <a:prstGeom prst="rect">
            <a:avLst/>
          </a:prstGeom>
          <a:noFill/>
          <a:ln>
            <a:noFill/>
          </a:ln>
        </p:spPr>
        <p:txBody>
          <a:bodyPr lIns="0" tIns="0" rIns="0" bIns="0" anchor="t">
            <a:noAutofit/>
          </a:bodyPr>
          <a:lstStyle/>
          <a:p>
            <a:pPr lvl="0">
              <a:lnSpc>
                <a:spcPct val="110000"/>
              </a:lnSpc>
              <a:spcBef>
                <a:spcPts val="0"/>
              </a:spcBef>
              <a:spcAft>
                <a:spcPts val="0"/>
              </a:spcAft>
              <a:buNone/>
              <a:defRPr sz="3200" b="1">
                <a:solidFill>
                  <a:srgbClr val="F7F6F2"/>
                </a:solidFill>
                <a:latin typeface="Arial"/>
              </a:defRPr>
            </a:pPr>
            <a:r>
              <a:rPr lang="en-US" sz="3200" b="1">
                <a:solidFill>
                  <a:srgbClr val="F7F6F2"/>
                </a:solidFill>
                <a:latin typeface="Arial"/>
              </a:rPr>
              <a:t>Tested parts, ready to connect</a:t>
            </a:r>
          </a:p>
        </p:txBody>
      </p:sp>
      <p:sp>
        <p:nvSpPr>
          <p:cNvPr id="5" name="Pharmacy-AGENT · Synthetic tests; human operationa">
            <a:extLst>
              <a:ext uri="{FF2B5EF4-FFF2-40B4-BE49-F238E27FC236}">
                <a16:creationId xmlns:a16="http://schemas.microsoft.com/office/drawing/2014/main" id="{7102A812-BC86-2189-0074-4B0271A2BBB0}"/>
              </a:ext>
            </a:extLst>
          </p:cNvPr>
          <p:cNvSpPr txBox="1"/>
          <p:nvPr/>
        </p:nvSpPr>
        <p:spPr>
          <a:xfrm>
            <a:off x="812800" y="6222999"/>
            <a:ext cx="10566399" cy="279399"/>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9AA5B8"/>
                </a:solidFill>
                <a:latin typeface="Arial"/>
              </a:defRPr>
            </a:pPr>
            <a:r>
              <a:rPr lang="en-US" sz="1200" b="0">
                <a:solidFill>
                  <a:srgbClr val="9AA5B8"/>
                </a:solidFill>
                <a:latin typeface="Arial"/>
              </a:rPr>
              <a:t>Pharmacy-AGENT · Synthetic tests; human operational decisions · 9 / 10</a:t>
            </a:r>
          </a:p>
        </p:txBody>
      </p:sp>
      <p:sp>
        <p:nvSpPr>
          <p:cNvPr id="6" name="Background">
            <a:extLst>
              <a:ext uri="{FF2B5EF4-FFF2-40B4-BE49-F238E27FC236}">
                <a16:creationId xmlns:a16="http://schemas.microsoft.com/office/drawing/2014/main" id="{DFD307F6-8A0D-BBD5-EDE1-B107890DE107}"/>
              </a:ext>
            </a:extLst>
          </p:cNvPr>
          <p:cNvSpPr txBox="1"/>
          <p:nvPr/>
        </p:nvSpPr>
        <p:spPr>
          <a:xfrm>
            <a:off x="812800" y="1905001"/>
            <a:ext cx="3384550" cy="19051"/>
          </a:xfrm>
          <a:prstGeom prst="rect">
            <a:avLst/>
          </a:prstGeom>
          <a:solidFill>
            <a:srgbClr val="F2A65A"/>
          </a:solidFill>
          <a:ln>
            <a:noFill/>
          </a:ln>
        </p:spPr>
        <p:txBody>
          <a:bodyPr lIns="0" tIns="0" rIns="0" bIns="0"/>
          <a:lstStyle/>
          <a:p>
            <a:endParaRPr lang="en-US"/>
          </a:p>
        </p:txBody>
      </p:sp>
      <p:sp>
        <p:nvSpPr>
          <p:cNvPr id="7" name="94">
            <a:extLst>
              <a:ext uri="{FF2B5EF4-FFF2-40B4-BE49-F238E27FC236}">
                <a16:creationId xmlns:a16="http://schemas.microsoft.com/office/drawing/2014/main" id="{E4EF341E-6142-4D59-FF25-EDF37856DD12}"/>
              </a:ext>
            </a:extLst>
          </p:cNvPr>
          <p:cNvSpPr txBox="1"/>
          <p:nvPr/>
        </p:nvSpPr>
        <p:spPr>
          <a:xfrm>
            <a:off x="812800" y="2070100"/>
            <a:ext cx="3384550" cy="635000"/>
          </a:xfrm>
          <a:prstGeom prst="rect">
            <a:avLst/>
          </a:prstGeom>
          <a:noFill/>
          <a:ln>
            <a:noFill/>
          </a:ln>
        </p:spPr>
        <p:txBody>
          <a:bodyPr lIns="0" tIns="0" rIns="0" bIns="0" anchor="t">
            <a:noAutofit/>
          </a:bodyPr>
          <a:lstStyle/>
          <a:p>
            <a:pPr lvl="0">
              <a:lnSpc>
                <a:spcPct val="100000"/>
              </a:lnSpc>
              <a:spcBef>
                <a:spcPts val="0"/>
              </a:spcBef>
              <a:spcAft>
                <a:spcPts val="0"/>
              </a:spcAft>
              <a:buNone/>
              <a:defRPr sz="4000" b="1">
                <a:solidFill>
                  <a:srgbClr val="F7F6F2"/>
                </a:solidFill>
                <a:latin typeface="Arial"/>
              </a:defRPr>
            </a:pPr>
            <a:r>
              <a:rPr lang="en-US" sz="4000" b="1">
                <a:solidFill>
                  <a:srgbClr val="F7F6F2"/>
                </a:solidFill>
                <a:latin typeface="Arial"/>
              </a:rPr>
              <a:t>94</a:t>
            </a:r>
          </a:p>
        </p:txBody>
      </p:sp>
      <p:sp>
        <p:nvSpPr>
          <p:cNvPr id="8" name="tests pass (Oct 12)">
            <a:extLst>
              <a:ext uri="{FF2B5EF4-FFF2-40B4-BE49-F238E27FC236}">
                <a16:creationId xmlns:a16="http://schemas.microsoft.com/office/drawing/2014/main" id="{FB44CAA8-D3DD-CE29-DE53-33C02473B452}"/>
              </a:ext>
            </a:extLst>
          </p:cNvPr>
          <p:cNvSpPr txBox="1"/>
          <p:nvPr/>
        </p:nvSpPr>
        <p:spPr>
          <a:xfrm>
            <a:off x="812800" y="2781298"/>
            <a:ext cx="3384550" cy="469900"/>
          </a:xfrm>
          <a:prstGeom prst="rect">
            <a:avLst/>
          </a:prstGeom>
          <a:noFill/>
          <a:ln>
            <a:noFill/>
          </a:ln>
        </p:spPr>
        <p:txBody>
          <a:bodyPr lIns="0" tIns="0" rIns="0" bIns="0" anchor="t">
            <a:noAutofit/>
          </a:bodyPr>
          <a:lstStyle/>
          <a:p>
            <a:pPr lvl="0">
              <a:lnSpc>
                <a:spcPct val="120000"/>
              </a:lnSpc>
              <a:spcBef>
                <a:spcPts val="0"/>
              </a:spcBef>
              <a:spcAft>
                <a:spcPts val="0"/>
              </a:spcAft>
              <a:buNone/>
              <a:defRPr sz="1300" b="0">
                <a:solidFill>
                  <a:srgbClr val="C9D3E3"/>
                </a:solidFill>
                <a:latin typeface="Arial"/>
              </a:defRPr>
            </a:pPr>
            <a:r>
              <a:rPr lang="en-US" sz="1300" b="0">
                <a:solidFill>
                  <a:srgbClr val="C9D3E3"/>
                </a:solidFill>
                <a:latin typeface="Arial"/>
              </a:rPr>
              <a:t>tests pass (Oct 12)</a:t>
            </a:r>
          </a:p>
        </p:txBody>
      </p:sp>
      <p:sp>
        <p:nvSpPr>
          <p:cNvPr id="9" name="Background">
            <a:extLst>
              <a:ext uri="{FF2B5EF4-FFF2-40B4-BE49-F238E27FC236}">
                <a16:creationId xmlns:a16="http://schemas.microsoft.com/office/drawing/2014/main" id="{91F54549-ADFB-F49F-3395-21C9B869EB99}"/>
              </a:ext>
            </a:extLst>
          </p:cNvPr>
          <p:cNvSpPr txBox="1"/>
          <p:nvPr/>
        </p:nvSpPr>
        <p:spPr>
          <a:xfrm>
            <a:off x="4400550" y="1905001"/>
            <a:ext cx="3384550" cy="19051"/>
          </a:xfrm>
          <a:prstGeom prst="rect">
            <a:avLst/>
          </a:prstGeom>
          <a:solidFill>
            <a:srgbClr val="F2A65A"/>
          </a:solidFill>
          <a:ln>
            <a:noFill/>
          </a:ln>
        </p:spPr>
        <p:txBody>
          <a:bodyPr lIns="0" tIns="0" rIns="0" bIns="0"/>
          <a:lstStyle/>
          <a:p>
            <a:endParaRPr lang="en-US"/>
          </a:p>
        </p:txBody>
      </p:sp>
      <p:sp>
        <p:nvSpPr>
          <p:cNvPr id="10" name="85/85">
            <a:extLst>
              <a:ext uri="{FF2B5EF4-FFF2-40B4-BE49-F238E27FC236}">
                <a16:creationId xmlns:a16="http://schemas.microsoft.com/office/drawing/2014/main" id="{7B5BA73A-DEBA-4D86-77C6-AB60E3D0751D}"/>
              </a:ext>
            </a:extLst>
          </p:cNvPr>
          <p:cNvSpPr txBox="1"/>
          <p:nvPr/>
        </p:nvSpPr>
        <p:spPr>
          <a:xfrm>
            <a:off x="4400550" y="2070100"/>
            <a:ext cx="3384550" cy="635000"/>
          </a:xfrm>
          <a:prstGeom prst="rect">
            <a:avLst/>
          </a:prstGeom>
          <a:noFill/>
          <a:ln>
            <a:noFill/>
          </a:ln>
        </p:spPr>
        <p:txBody>
          <a:bodyPr lIns="0" tIns="0" rIns="0" bIns="0" anchor="t">
            <a:noAutofit/>
          </a:bodyPr>
          <a:lstStyle/>
          <a:p>
            <a:pPr lvl="0">
              <a:lnSpc>
                <a:spcPct val="100000"/>
              </a:lnSpc>
              <a:spcBef>
                <a:spcPts val="0"/>
              </a:spcBef>
              <a:spcAft>
                <a:spcPts val="0"/>
              </a:spcAft>
              <a:buNone/>
              <a:defRPr sz="4000" b="1">
                <a:solidFill>
                  <a:srgbClr val="F7F6F2"/>
                </a:solidFill>
                <a:latin typeface="Arial"/>
              </a:defRPr>
            </a:pPr>
            <a:r>
              <a:rPr lang="en-US" sz="4000" b="1">
                <a:solidFill>
                  <a:srgbClr val="F7F6F2"/>
                </a:solidFill>
                <a:latin typeface="Arial"/>
              </a:rPr>
              <a:t>85/85</a:t>
            </a:r>
          </a:p>
        </p:txBody>
      </p:sp>
      <p:sp>
        <p:nvSpPr>
          <p:cNvPr id="11" name="fixture outcomes matched">
            <a:extLst>
              <a:ext uri="{FF2B5EF4-FFF2-40B4-BE49-F238E27FC236}">
                <a16:creationId xmlns:a16="http://schemas.microsoft.com/office/drawing/2014/main" id="{A49DEB72-CCE8-EFFB-14C9-02B62FD4ED71}"/>
              </a:ext>
            </a:extLst>
          </p:cNvPr>
          <p:cNvSpPr txBox="1"/>
          <p:nvPr/>
        </p:nvSpPr>
        <p:spPr>
          <a:xfrm>
            <a:off x="4400550" y="2781298"/>
            <a:ext cx="3384550" cy="469900"/>
          </a:xfrm>
          <a:prstGeom prst="rect">
            <a:avLst/>
          </a:prstGeom>
          <a:noFill/>
          <a:ln>
            <a:noFill/>
          </a:ln>
        </p:spPr>
        <p:txBody>
          <a:bodyPr lIns="0" tIns="0" rIns="0" bIns="0" anchor="t">
            <a:noAutofit/>
          </a:bodyPr>
          <a:lstStyle/>
          <a:p>
            <a:pPr lvl="0">
              <a:lnSpc>
                <a:spcPct val="120000"/>
              </a:lnSpc>
              <a:spcBef>
                <a:spcPts val="0"/>
              </a:spcBef>
              <a:spcAft>
                <a:spcPts val="0"/>
              </a:spcAft>
              <a:buNone/>
              <a:defRPr sz="1300" b="0">
                <a:solidFill>
                  <a:srgbClr val="C9D3E3"/>
                </a:solidFill>
                <a:latin typeface="Arial"/>
              </a:defRPr>
            </a:pPr>
            <a:r>
              <a:rPr lang="en-US" sz="1300" b="0">
                <a:solidFill>
                  <a:srgbClr val="C9D3E3"/>
                </a:solidFill>
                <a:latin typeface="Arial"/>
              </a:rPr>
              <a:t>fixture outcomes matched</a:t>
            </a:r>
          </a:p>
        </p:txBody>
      </p:sp>
      <p:sp>
        <p:nvSpPr>
          <p:cNvPr id="12" name="Background">
            <a:extLst>
              <a:ext uri="{FF2B5EF4-FFF2-40B4-BE49-F238E27FC236}">
                <a16:creationId xmlns:a16="http://schemas.microsoft.com/office/drawing/2014/main" id="{AFB4B84F-4135-ADB3-166A-B1DA8747E774}"/>
              </a:ext>
            </a:extLst>
          </p:cNvPr>
          <p:cNvSpPr txBox="1"/>
          <p:nvPr/>
        </p:nvSpPr>
        <p:spPr>
          <a:xfrm>
            <a:off x="7988299" y="1905001"/>
            <a:ext cx="3384550" cy="19051"/>
          </a:xfrm>
          <a:prstGeom prst="rect">
            <a:avLst/>
          </a:prstGeom>
          <a:solidFill>
            <a:srgbClr val="F2A65A"/>
          </a:solidFill>
          <a:ln>
            <a:noFill/>
          </a:ln>
        </p:spPr>
        <p:txBody>
          <a:bodyPr lIns="0" tIns="0" rIns="0" bIns="0"/>
          <a:lstStyle/>
          <a:p>
            <a:endParaRPr lang="en-US"/>
          </a:p>
        </p:txBody>
      </p:sp>
      <p:sp>
        <p:nvSpPr>
          <p:cNvPr id="13" name="55 / 30">
            <a:extLst>
              <a:ext uri="{FF2B5EF4-FFF2-40B4-BE49-F238E27FC236}">
                <a16:creationId xmlns:a16="http://schemas.microsoft.com/office/drawing/2014/main" id="{0D8A8EC1-15C5-F3D2-6B21-4CB323D0D780}"/>
              </a:ext>
            </a:extLst>
          </p:cNvPr>
          <p:cNvSpPr txBox="1"/>
          <p:nvPr/>
        </p:nvSpPr>
        <p:spPr>
          <a:xfrm>
            <a:off x="7988299" y="2070100"/>
            <a:ext cx="3384550" cy="635000"/>
          </a:xfrm>
          <a:prstGeom prst="rect">
            <a:avLst/>
          </a:prstGeom>
          <a:noFill/>
          <a:ln>
            <a:noFill/>
          </a:ln>
        </p:spPr>
        <p:txBody>
          <a:bodyPr lIns="0" tIns="0" rIns="0" bIns="0" anchor="t">
            <a:noAutofit/>
          </a:bodyPr>
          <a:lstStyle/>
          <a:p>
            <a:pPr lvl="0">
              <a:lnSpc>
                <a:spcPct val="100000"/>
              </a:lnSpc>
              <a:spcBef>
                <a:spcPts val="0"/>
              </a:spcBef>
              <a:spcAft>
                <a:spcPts val="0"/>
              </a:spcAft>
              <a:buNone/>
              <a:defRPr sz="4000" b="1">
                <a:solidFill>
                  <a:srgbClr val="F7F6F2"/>
                </a:solidFill>
                <a:latin typeface="Arial"/>
              </a:defRPr>
            </a:pPr>
            <a:r>
              <a:rPr lang="en-US" sz="4000" b="1">
                <a:solidFill>
                  <a:srgbClr val="F7F6F2"/>
                </a:solidFill>
                <a:latin typeface="Arial"/>
              </a:rPr>
              <a:t>55 / 30</a:t>
            </a:r>
          </a:p>
        </p:txBody>
      </p:sp>
      <p:sp>
        <p:nvSpPr>
          <p:cNvPr id="14" name="unsafe detected / benign accepted">
            <a:extLst>
              <a:ext uri="{FF2B5EF4-FFF2-40B4-BE49-F238E27FC236}">
                <a16:creationId xmlns:a16="http://schemas.microsoft.com/office/drawing/2014/main" id="{9BDECB9C-B887-6AA0-92CF-94C738F0D966}"/>
              </a:ext>
            </a:extLst>
          </p:cNvPr>
          <p:cNvSpPr txBox="1"/>
          <p:nvPr/>
        </p:nvSpPr>
        <p:spPr>
          <a:xfrm>
            <a:off x="7988299" y="2781298"/>
            <a:ext cx="3384550" cy="469900"/>
          </a:xfrm>
          <a:prstGeom prst="rect">
            <a:avLst/>
          </a:prstGeom>
          <a:noFill/>
          <a:ln>
            <a:noFill/>
          </a:ln>
        </p:spPr>
        <p:txBody>
          <a:bodyPr lIns="0" tIns="0" rIns="0" bIns="0" anchor="t">
            <a:noAutofit/>
          </a:bodyPr>
          <a:lstStyle/>
          <a:p>
            <a:pPr lvl="0">
              <a:lnSpc>
                <a:spcPct val="120000"/>
              </a:lnSpc>
              <a:spcBef>
                <a:spcPts val="0"/>
              </a:spcBef>
              <a:spcAft>
                <a:spcPts val="0"/>
              </a:spcAft>
              <a:buNone/>
              <a:defRPr sz="1300" b="0">
                <a:solidFill>
                  <a:srgbClr val="C9D3E3"/>
                </a:solidFill>
                <a:latin typeface="Arial"/>
              </a:defRPr>
            </a:pPr>
            <a:r>
              <a:rPr lang="en-US" sz="1300" b="0">
                <a:solidFill>
                  <a:srgbClr val="C9D3E3"/>
                </a:solidFill>
                <a:latin typeface="Arial"/>
              </a:rPr>
              <a:t>unsafe detected / benign accepted</a:t>
            </a:r>
          </a:p>
        </p:txBody>
      </p:sp>
      <p:sp>
        <p:nvSpPr>
          <p:cNvPr id="15" name="01 Connect harness facts, read tools and guards; t">
            <a:extLst>
              <a:ext uri="{FF2B5EF4-FFF2-40B4-BE49-F238E27FC236}">
                <a16:creationId xmlns:a16="http://schemas.microsoft.com/office/drawing/2014/main" id="{34235828-090F-8673-9F4F-9E3234F8B8D8}"/>
              </a:ext>
            </a:extLst>
          </p:cNvPr>
          <p:cNvSpPr txBox="1"/>
          <p:nvPr/>
        </p:nvSpPr>
        <p:spPr>
          <a:xfrm>
            <a:off x="812800" y="3721100"/>
            <a:ext cx="10566399" cy="584200"/>
          </a:xfrm>
          <a:prstGeom prst="rect">
            <a:avLst/>
          </a:prstGeom>
          <a:noFill/>
          <a:ln>
            <a:noFill/>
          </a:ln>
        </p:spPr>
        <p:txBody>
          <a:bodyPr lIns="0" tIns="0" rIns="0" bIns="0" anchor="t">
            <a:noAutofit/>
          </a:bodyPr>
          <a:lstStyle/>
          <a:p>
            <a:pPr lvl="0">
              <a:lnSpc>
                <a:spcPct val="120000"/>
              </a:lnSpc>
              <a:spcBef>
                <a:spcPts val="0"/>
              </a:spcBef>
              <a:spcAft>
                <a:spcPts val="0"/>
              </a:spcAft>
              <a:buNone/>
              <a:defRPr sz="1500" b="0">
                <a:solidFill>
                  <a:srgbClr val="F7F6F2"/>
                </a:solidFill>
                <a:latin typeface="Arial"/>
              </a:defRPr>
            </a:pPr>
            <a:r>
              <a:rPr lang="en-US" sz="1500" b="0">
                <a:solidFill>
                  <a:srgbClr val="F7F6F2"/>
                </a:solidFill>
                <a:latin typeface="Arial"/>
              </a:rPr>
              <a:t>01 Connect harness facts, read tools and guards; test the model loop</a:t>
            </a:r>
          </a:p>
        </p:txBody>
      </p:sp>
      <p:sp>
        <p:nvSpPr>
          <p:cNvPr id="16" name="02 Run the three Eval Card cases end to end">
            <a:extLst>
              <a:ext uri="{FF2B5EF4-FFF2-40B4-BE49-F238E27FC236}">
                <a16:creationId xmlns:a16="http://schemas.microsoft.com/office/drawing/2014/main" id="{11C30F5C-61E9-50A2-0198-367C3653C4DC}"/>
              </a:ext>
            </a:extLst>
          </p:cNvPr>
          <p:cNvSpPr txBox="1"/>
          <p:nvPr/>
        </p:nvSpPr>
        <p:spPr>
          <a:xfrm>
            <a:off x="812800" y="4356100"/>
            <a:ext cx="10566399" cy="584200"/>
          </a:xfrm>
          <a:prstGeom prst="rect">
            <a:avLst/>
          </a:prstGeom>
          <a:noFill/>
          <a:ln>
            <a:noFill/>
          </a:ln>
        </p:spPr>
        <p:txBody>
          <a:bodyPr lIns="0" tIns="0" rIns="0" bIns="0" anchor="t">
            <a:noAutofit/>
          </a:bodyPr>
          <a:lstStyle/>
          <a:p>
            <a:pPr lvl="0">
              <a:lnSpc>
                <a:spcPct val="120000"/>
              </a:lnSpc>
              <a:spcBef>
                <a:spcPts val="0"/>
              </a:spcBef>
              <a:spcAft>
                <a:spcPts val="0"/>
              </a:spcAft>
              <a:buNone/>
              <a:defRPr sz="1500" b="0">
                <a:solidFill>
                  <a:srgbClr val="F7F6F2"/>
                </a:solidFill>
                <a:latin typeface="Arial"/>
              </a:defRPr>
            </a:pPr>
            <a:r>
              <a:rPr lang="en-US" sz="1500" b="0">
                <a:solidFill>
                  <a:srgbClr val="F7F6F2"/>
                </a:solidFill>
                <a:latin typeface="Arial"/>
              </a:rPr>
              <a:t>02 Run the three Eval Card cases end to end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conclusion">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A0514EF1-185B-AE39-934A-B2BE777A081C}"/>
              </a:ext>
            </a:extLst>
          </p:cNvPr>
          <p:cNvSpPr txBox="1"/>
          <p:nvPr/>
        </p:nvSpPr>
        <p:spPr>
          <a:xfrm>
            <a:off x="0" y="0"/>
            <a:ext cx="12192001" cy="6858000"/>
          </a:xfrm>
          <a:prstGeom prst="rect">
            <a:avLst/>
          </a:prstGeom>
          <a:solidFill>
            <a:srgbClr val="F7F6F2"/>
          </a:solidFill>
          <a:ln>
            <a:noFill/>
          </a:ln>
        </p:spPr>
        <p:txBody>
          <a:bodyPr lIns="0" tIns="0" rIns="0" bIns="0"/>
          <a:lstStyle/>
          <a:p>
            <a:endParaRPr lang="en-US"/>
          </a:p>
        </p:txBody>
      </p:sp>
      <p:sp>
        <p:nvSpPr>
          <p:cNvPr id="3" name="CONCLUSION">
            <a:extLst>
              <a:ext uri="{FF2B5EF4-FFF2-40B4-BE49-F238E27FC236}">
                <a16:creationId xmlns:a16="http://schemas.microsoft.com/office/drawing/2014/main" id="{2158AFE1-A3CE-9CCF-5916-2990DAEDED04}"/>
              </a:ext>
            </a:extLst>
          </p:cNvPr>
          <p:cNvSpPr txBox="1"/>
          <p:nvPr/>
        </p:nvSpPr>
        <p:spPr>
          <a:xfrm>
            <a:off x="812800" y="812800"/>
            <a:ext cx="10566399" cy="254001"/>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B44E14"/>
                </a:solidFill>
                <a:latin typeface="Courier New"/>
              </a:defRPr>
            </a:pPr>
            <a:r>
              <a:rPr lang="en-US" sz="1200" b="0">
                <a:solidFill>
                  <a:srgbClr val="B44E14"/>
                </a:solidFill>
                <a:latin typeface="Courier New"/>
              </a:rPr>
              <a:t>CONCLUSION</a:t>
            </a:r>
          </a:p>
        </p:txBody>
      </p:sp>
      <p:sp>
        <p:nvSpPr>
          <p:cNvPr id="4" name="An agent that reads, explains, and leaves decision">
            <a:extLst>
              <a:ext uri="{FF2B5EF4-FFF2-40B4-BE49-F238E27FC236}">
                <a16:creationId xmlns:a16="http://schemas.microsoft.com/office/drawing/2014/main" id="{D5BD4777-7AA5-E98E-1082-9F4E59264045}"/>
              </a:ext>
            </a:extLst>
          </p:cNvPr>
          <p:cNvSpPr txBox="1"/>
          <p:nvPr/>
        </p:nvSpPr>
        <p:spPr>
          <a:xfrm>
            <a:off x="812800" y="1143000"/>
            <a:ext cx="10566399" cy="984250"/>
          </a:xfrm>
          <a:prstGeom prst="rect">
            <a:avLst/>
          </a:prstGeom>
          <a:noFill/>
          <a:ln>
            <a:noFill/>
          </a:ln>
        </p:spPr>
        <p:txBody>
          <a:bodyPr lIns="0" tIns="0" rIns="0" bIns="0" anchor="t">
            <a:noAutofit/>
          </a:bodyPr>
          <a:lstStyle/>
          <a:p>
            <a:pPr lvl="0">
              <a:lnSpc>
                <a:spcPct val="110000"/>
              </a:lnSpc>
              <a:spcBef>
                <a:spcPts val="0"/>
              </a:spcBef>
              <a:spcAft>
                <a:spcPts val="0"/>
              </a:spcAft>
              <a:buNone/>
              <a:defRPr sz="3200" b="1">
                <a:solidFill>
                  <a:srgbClr val="14213D"/>
                </a:solidFill>
                <a:latin typeface="Arial"/>
              </a:defRPr>
            </a:pPr>
            <a:r>
              <a:rPr lang="en-US" sz="3200" b="1">
                <a:solidFill>
                  <a:srgbClr val="14213D"/>
                </a:solidFill>
                <a:latin typeface="Arial"/>
              </a:rPr>
              <a:t>An agent that reads, explains, and leaves decisions to people</a:t>
            </a:r>
          </a:p>
        </p:txBody>
      </p:sp>
      <p:sp>
        <p:nvSpPr>
          <p:cNvPr id="5" name="Pharmacy-AGENT  ·  Synthetic tests; human operatio">
            <a:extLst>
              <a:ext uri="{FF2B5EF4-FFF2-40B4-BE49-F238E27FC236}">
                <a16:creationId xmlns:a16="http://schemas.microsoft.com/office/drawing/2014/main" id="{F8785FA3-3709-7EFA-3684-8075F36FDBF1}"/>
              </a:ext>
            </a:extLst>
          </p:cNvPr>
          <p:cNvSpPr txBox="1"/>
          <p:nvPr/>
        </p:nvSpPr>
        <p:spPr>
          <a:xfrm>
            <a:off x="812800" y="6222999"/>
            <a:ext cx="10566399" cy="279399"/>
          </a:xfrm>
          <a:prstGeom prst="rect">
            <a:avLst/>
          </a:prstGeom>
          <a:noFill/>
          <a:ln>
            <a:noFill/>
          </a:ln>
        </p:spPr>
        <p:txBody>
          <a:bodyPr lIns="0" tIns="0" rIns="0" bIns="0" anchor="t">
            <a:noAutofit/>
          </a:bodyPr>
          <a:lstStyle/>
          <a:p>
            <a:pPr lvl="0">
              <a:lnSpc>
                <a:spcPct val="120000"/>
              </a:lnSpc>
              <a:spcBef>
                <a:spcPts val="0"/>
              </a:spcBef>
              <a:spcAft>
                <a:spcPts val="0"/>
              </a:spcAft>
              <a:buNone/>
              <a:defRPr sz="1200" b="0">
                <a:solidFill>
                  <a:srgbClr val="6A7385"/>
                </a:solidFill>
                <a:latin typeface="Arial"/>
              </a:defRPr>
            </a:pPr>
            <a:r>
              <a:rPr lang="en-US" sz="1200" b="0">
                <a:solidFill>
                  <a:srgbClr val="6A7385"/>
                </a:solidFill>
                <a:latin typeface="Arial"/>
              </a:rPr>
              <a:t>Pharmacy-AGENT · Synthetic tests; human operational decisions · 10 / 10</a:t>
            </a:r>
          </a:p>
        </p:txBody>
      </p:sp>
      <p:sp>
        <p:nvSpPr>
          <p:cNvPr id="6" name="Background">
            <a:extLst>
              <a:ext uri="{FF2B5EF4-FFF2-40B4-BE49-F238E27FC236}">
                <a16:creationId xmlns:a16="http://schemas.microsoft.com/office/drawing/2014/main" id="{5D0729E3-9D1B-DC33-2AEC-1025C8884CDD}"/>
              </a:ext>
            </a:extLst>
          </p:cNvPr>
          <p:cNvSpPr txBox="1"/>
          <p:nvPr/>
        </p:nvSpPr>
        <p:spPr>
          <a:xfrm>
            <a:off x="812800" y="2527300"/>
            <a:ext cx="3384550" cy="2158999"/>
          </a:xfrm>
          <a:prstGeom prst="rect">
            <a:avLst/>
          </a:prstGeom>
          <a:solidFill>
            <a:srgbClr val="FFFFFF"/>
          </a:solidFill>
          <a:ln>
            <a:noFill/>
          </a:ln>
        </p:spPr>
        <p:txBody>
          <a:bodyPr lIns="0" tIns="0" rIns="0" bIns="0"/>
          <a:lstStyle/>
          <a:p>
            <a:endParaRPr lang="en-US"/>
          </a:p>
        </p:txBody>
      </p:sp>
      <p:sp>
        <p:nvSpPr>
          <p:cNvPr id="7" name="What we built">
            <a:extLst>
              <a:ext uri="{FF2B5EF4-FFF2-40B4-BE49-F238E27FC236}">
                <a16:creationId xmlns:a16="http://schemas.microsoft.com/office/drawing/2014/main" id="{F69EC4DB-91E8-0921-0A5E-E24ADCD668F1}"/>
              </a:ext>
            </a:extLst>
          </p:cNvPr>
          <p:cNvSpPr txBox="1"/>
          <p:nvPr/>
        </p:nvSpPr>
        <p:spPr>
          <a:xfrm>
            <a:off x="1041400" y="2755900"/>
            <a:ext cx="2927350" cy="342900"/>
          </a:xfrm>
          <a:prstGeom prst="rect">
            <a:avLst/>
          </a:prstGeom>
          <a:noFill/>
          <a:ln>
            <a:noFill/>
          </a:ln>
        </p:spPr>
        <p:txBody>
          <a:bodyPr lIns="0" tIns="0" rIns="0" bIns="0" anchor="t">
            <a:noAutofit/>
          </a:bodyPr>
          <a:lstStyle/>
          <a:p>
            <a:pPr lvl="0">
              <a:lnSpc>
                <a:spcPct val="120000"/>
              </a:lnSpc>
              <a:spcBef>
                <a:spcPts val="0"/>
              </a:spcBef>
              <a:spcAft>
                <a:spcPts val="0"/>
              </a:spcAft>
              <a:buNone/>
              <a:defRPr sz="1600" b="1">
                <a:solidFill>
                  <a:srgbClr val="14213D"/>
                </a:solidFill>
                <a:latin typeface="Arial"/>
              </a:defRPr>
            </a:pPr>
            <a:r>
              <a:rPr lang="en-US" sz="1600" b="1">
                <a:solidFill>
                  <a:srgbClr val="14213D"/>
                </a:solidFill>
                <a:latin typeface="Arial"/>
              </a:rPr>
              <a:t>What we built</a:t>
            </a:r>
          </a:p>
        </p:txBody>
      </p:sp>
      <p:sp>
        <p:nvSpPr>
          <p:cNvPr id="8" name="Two read-only tools, a strict system prompt and fi">
            <a:extLst>
              <a:ext uri="{FF2B5EF4-FFF2-40B4-BE49-F238E27FC236}">
                <a16:creationId xmlns:a16="http://schemas.microsoft.com/office/drawing/2014/main" id="{8C6B2376-E699-4B52-A9EB-FAA254188536}"/>
              </a:ext>
            </a:extLst>
          </p:cNvPr>
          <p:cNvSpPr txBox="1"/>
          <p:nvPr/>
        </p:nvSpPr>
        <p:spPr>
          <a:xfrm>
            <a:off x="1041400" y="3213100"/>
            <a:ext cx="2927350" cy="1365249"/>
          </a:xfrm>
          <a:prstGeom prst="rect">
            <a:avLst/>
          </a:prstGeom>
          <a:noFill/>
          <a:ln>
            <a:noFill/>
          </a:ln>
        </p:spPr>
        <p:txBody>
          <a:bodyPr lIns="0" tIns="0" rIns="0" bIns="0" anchor="t">
            <a:noAutofit/>
          </a:bodyPr>
          <a:lstStyle/>
          <a:p>
            <a:pPr lvl="0">
              <a:lnSpc>
                <a:spcPct val="140000"/>
              </a:lnSpc>
              <a:spcBef>
                <a:spcPts val="0"/>
              </a:spcBef>
              <a:spcAft>
                <a:spcPts val="0"/>
              </a:spcAft>
              <a:buNone/>
              <a:defRPr sz="1300" b="0">
                <a:solidFill>
                  <a:srgbClr val="4A5568"/>
                </a:solidFill>
                <a:latin typeface="Arial"/>
              </a:defRPr>
            </a:pPr>
            <a:r>
              <a:rPr lang="en-US" sz="1300" b="0">
                <a:solidFill>
                  <a:srgbClr val="4A5568"/>
                </a:solidFill>
                <a:latin typeface="Arial"/>
              </a:rPr>
              <a:t>Two read-only tools, a strict system prompt and five injection controls, all tested on synthetic data.</a:t>
            </a:r>
          </a:p>
        </p:txBody>
      </p:sp>
      <p:sp>
        <p:nvSpPr>
          <p:cNvPr id="9" name="Background">
            <a:extLst>
              <a:ext uri="{FF2B5EF4-FFF2-40B4-BE49-F238E27FC236}">
                <a16:creationId xmlns:a16="http://schemas.microsoft.com/office/drawing/2014/main" id="{E497888A-FFA2-0A04-396D-A484F0C7E7EB}"/>
              </a:ext>
            </a:extLst>
          </p:cNvPr>
          <p:cNvSpPr txBox="1"/>
          <p:nvPr/>
        </p:nvSpPr>
        <p:spPr>
          <a:xfrm>
            <a:off x="4400550" y="2527300"/>
            <a:ext cx="3384550" cy="2158999"/>
          </a:xfrm>
          <a:prstGeom prst="rect">
            <a:avLst/>
          </a:prstGeom>
          <a:solidFill>
            <a:srgbClr val="FFFFFF"/>
          </a:solidFill>
          <a:ln>
            <a:noFill/>
          </a:ln>
        </p:spPr>
        <p:txBody>
          <a:bodyPr lIns="0" tIns="0" rIns="0" bIns="0"/>
          <a:lstStyle/>
          <a:p>
            <a:endParaRPr lang="en-US"/>
          </a:p>
        </p:txBody>
      </p:sp>
      <p:sp>
        <p:nvSpPr>
          <p:cNvPr id="10" name="What we learned">
            <a:extLst>
              <a:ext uri="{FF2B5EF4-FFF2-40B4-BE49-F238E27FC236}">
                <a16:creationId xmlns:a16="http://schemas.microsoft.com/office/drawing/2014/main" id="{1A463FA4-42ED-C9C9-B449-085F1679596B}"/>
              </a:ext>
            </a:extLst>
          </p:cNvPr>
          <p:cNvSpPr txBox="1"/>
          <p:nvPr/>
        </p:nvSpPr>
        <p:spPr>
          <a:xfrm>
            <a:off x="4629150" y="2755900"/>
            <a:ext cx="2927350" cy="342900"/>
          </a:xfrm>
          <a:prstGeom prst="rect">
            <a:avLst/>
          </a:prstGeom>
          <a:noFill/>
          <a:ln>
            <a:noFill/>
          </a:ln>
        </p:spPr>
        <p:txBody>
          <a:bodyPr lIns="0" tIns="0" rIns="0" bIns="0" anchor="t">
            <a:noAutofit/>
          </a:bodyPr>
          <a:lstStyle/>
          <a:p>
            <a:pPr lvl="0">
              <a:lnSpc>
                <a:spcPct val="120000"/>
              </a:lnSpc>
              <a:spcBef>
                <a:spcPts val="0"/>
              </a:spcBef>
              <a:spcAft>
                <a:spcPts val="0"/>
              </a:spcAft>
              <a:buNone/>
              <a:defRPr sz="1600" b="1">
                <a:solidFill>
                  <a:srgbClr val="14213D"/>
                </a:solidFill>
                <a:latin typeface="Arial"/>
              </a:defRPr>
            </a:pPr>
            <a:r>
              <a:rPr lang="en-US" sz="1600" b="1">
                <a:solidFill>
                  <a:srgbClr val="14213D"/>
                </a:solidFill>
                <a:latin typeface="Arial"/>
              </a:rPr>
              <a:t>What we learned</a:t>
            </a:r>
          </a:p>
        </p:txBody>
      </p:sp>
      <p:sp>
        <p:nvSpPr>
          <p:cNvPr id="11" name="Test tools for real. A timeout or &quot;no match&quot; is ne">
            <a:extLst>
              <a:ext uri="{FF2B5EF4-FFF2-40B4-BE49-F238E27FC236}">
                <a16:creationId xmlns:a16="http://schemas.microsoft.com/office/drawing/2014/main" id="{52FDEAF9-CCB7-1AED-9F28-E48B13F92B87}"/>
              </a:ext>
            </a:extLst>
          </p:cNvPr>
          <p:cNvSpPr txBox="1"/>
          <p:nvPr/>
        </p:nvSpPr>
        <p:spPr>
          <a:xfrm>
            <a:off x="4629150" y="3213100"/>
            <a:ext cx="2927350" cy="1365249"/>
          </a:xfrm>
          <a:prstGeom prst="rect">
            <a:avLst/>
          </a:prstGeom>
          <a:noFill/>
          <a:ln>
            <a:noFill/>
          </a:ln>
        </p:spPr>
        <p:txBody>
          <a:bodyPr lIns="0" tIns="0" rIns="0" bIns="0" anchor="t">
            <a:noAutofit/>
          </a:bodyPr>
          <a:lstStyle/>
          <a:p>
            <a:pPr lvl="0">
              <a:lnSpc>
                <a:spcPct val="140000"/>
              </a:lnSpc>
              <a:spcBef>
                <a:spcPts val="0"/>
              </a:spcBef>
              <a:spcAft>
                <a:spcPts val="0"/>
              </a:spcAft>
              <a:buNone/>
              <a:defRPr sz="1300" b="0">
                <a:solidFill>
                  <a:srgbClr val="4A5568"/>
                </a:solidFill>
                <a:latin typeface="Arial"/>
              </a:defRPr>
            </a:pPr>
            <a:r>
              <a:rPr lang="en-US" sz="1300" b="0">
                <a:solidFill>
                  <a:srgbClr val="4A5568"/>
                </a:solidFill>
                <a:latin typeface="Arial"/>
              </a:rPr>
              <a:t>Test tools for real. A timeout or "no match" is never "no shortage." Safety rules belong in code, not only in the prompt.</a:t>
            </a:r>
          </a:p>
        </p:txBody>
      </p:sp>
      <p:sp>
        <p:nvSpPr>
          <p:cNvPr id="12" name="Background">
            <a:extLst>
              <a:ext uri="{FF2B5EF4-FFF2-40B4-BE49-F238E27FC236}">
                <a16:creationId xmlns:a16="http://schemas.microsoft.com/office/drawing/2014/main" id="{69DEFE9F-DCA8-C642-DFB1-4E738EA48DED}"/>
              </a:ext>
            </a:extLst>
          </p:cNvPr>
          <p:cNvSpPr txBox="1"/>
          <p:nvPr/>
        </p:nvSpPr>
        <p:spPr>
          <a:xfrm>
            <a:off x="7988299" y="2527300"/>
            <a:ext cx="3384550" cy="2158999"/>
          </a:xfrm>
          <a:prstGeom prst="rect">
            <a:avLst/>
          </a:prstGeom>
          <a:solidFill>
            <a:srgbClr val="14213D"/>
          </a:solidFill>
          <a:ln>
            <a:noFill/>
          </a:ln>
        </p:spPr>
        <p:txBody>
          <a:bodyPr lIns="0" tIns="0" rIns="0" bIns="0"/>
          <a:lstStyle/>
          <a:p>
            <a:endParaRPr lang="en-US"/>
          </a:p>
        </p:txBody>
      </p:sp>
      <p:sp>
        <p:nvSpPr>
          <p:cNvPr id="13" name="What comes next">
            <a:extLst>
              <a:ext uri="{FF2B5EF4-FFF2-40B4-BE49-F238E27FC236}">
                <a16:creationId xmlns:a16="http://schemas.microsoft.com/office/drawing/2014/main" id="{1FA8A9BF-4C2A-4165-C37A-6AFFD1EC4467}"/>
              </a:ext>
            </a:extLst>
          </p:cNvPr>
          <p:cNvSpPr txBox="1"/>
          <p:nvPr/>
        </p:nvSpPr>
        <p:spPr>
          <a:xfrm>
            <a:off x="8216899" y="2755900"/>
            <a:ext cx="2927350" cy="342900"/>
          </a:xfrm>
          <a:prstGeom prst="rect">
            <a:avLst/>
          </a:prstGeom>
          <a:noFill/>
          <a:ln>
            <a:noFill/>
          </a:ln>
        </p:spPr>
        <p:txBody>
          <a:bodyPr lIns="0" tIns="0" rIns="0" bIns="0" anchor="t">
            <a:noAutofit/>
          </a:bodyPr>
          <a:lstStyle/>
          <a:p>
            <a:pPr lvl="0">
              <a:lnSpc>
                <a:spcPct val="120000"/>
              </a:lnSpc>
              <a:spcBef>
                <a:spcPts val="0"/>
              </a:spcBef>
              <a:spcAft>
                <a:spcPts val="0"/>
              </a:spcAft>
              <a:buNone/>
              <a:defRPr sz="1600" b="1">
                <a:solidFill>
                  <a:srgbClr val="F7F6F2"/>
                </a:solidFill>
                <a:latin typeface="Arial"/>
              </a:defRPr>
            </a:pPr>
            <a:r>
              <a:rPr lang="en-US" sz="1600" b="1">
                <a:solidFill>
                  <a:srgbClr val="F7F6F2"/>
                </a:solidFill>
                <a:latin typeface="Arial"/>
              </a:rPr>
              <a:t>What comes next</a:t>
            </a:r>
          </a:p>
        </p:txBody>
      </p:sp>
      <p:sp>
        <p:nvSpPr>
          <p:cNvPr id="14" name="Connect the harness, run the Eval Card end to end,">
            <a:extLst>
              <a:ext uri="{FF2B5EF4-FFF2-40B4-BE49-F238E27FC236}">
                <a16:creationId xmlns:a16="http://schemas.microsoft.com/office/drawing/2014/main" id="{B4F1C483-61B8-6E7E-052E-987BECAE4267}"/>
              </a:ext>
            </a:extLst>
          </p:cNvPr>
          <p:cNvSpPr txBox="1"/>
          <p:nvPr/>
        </p:nvSpPr>
        <p:spPr>
          <a:xfrm>
            <a:off x="8216899" y="3213100"/>
            <a:ext cx="2927350" cy="1365249"/>
          </a:xfrm>
          <a:prstGeom prst="rect">
            <a:avLst/>
          </a:prstGeom>
          <a:noFill/>
          <a:ln>
            <a:noFill/>
          </a:ln>
        </p:spPr>
        <p:txBody>
          <a:bodyPr lIns="0" tIns="0" rIns="0" bIns="0" anchor="t">
            <a:noAutofit/>
          </a:bodyPr>
          <a:lstStyle/>
          <a:p>
            <a:pPr lvl="0">
              <a:lnSpc>
                <a:spcPct val="140000"/>
              </a:lnSpc>
              <a:spcBef>
                <a:spcPts val="0"/>
              </a:spcBef>
              <a:spcAft>
                <a:spcPts val="0"/>
              </a:spcAft>
              <a:buNone/>
              <a:defRPr sz="1300" b="0">
                <a:solidFill>
                  <a:srgbClr val="C9D3E3"/>
                </a:solidFill>
                <a:latin typeface="Arial"/>
              </a:defRPr>
            </a:pPr>
            <a:r>
              <a:rPr lang="en-US" sz="1300" b="0">
                <a:solidFill>
                  <a:srgbClr val="C9D3E3"/>
                </a:solidFill>
                <a:latin typeface="Arial"/>
              </a:rPr>
              <a:t>Connect the harness, run the Eval Card end to end, and use real data only after approval.</a:t>
            </a:r>
          </a:p>
        </p:txBody>
      </p:sp>
      <p:sp>
        <p:nvSpPr>
          <p:cNvPr id="15" name="Thank you · Questions?">
            <a:extLst>
              <a:ext uri="{FF2B5EF4-FFF2-40B4-BE49-F238E27FC236}">
                <a16:creationId xmlns:a16="http://schemas.microsoft.com/office/drawing/2014/main" id="{EB7BA72D-60AE-B59B-A7E3-501FB161447B}"/>
              </a:ext>
            </a:extLst>
          </p:cNvPr>
          <p:cNvSpPr txBox="1"/>
          <p:nvPr/>
        </p:nvSpPr>
        <p:spPr>
          <a:xfrm>
            <a:off x="812800" y="5130799"/>
            <a:ext cx="4572000" cy="571500"/>
          </a:xfrm>
          <a:prstGeom prst="rect">
            <a:avLst/>
          </a:prstGeom>
          <a:noFill/>
          <a:ln>
            <a:noFill/>
          </a:ln>
        </p:spPr>
        <p:txBody>
          <a:bodyPr lIns="0" tIns="0" rIns="0" bIns="0" anchor="t">
            <a:noAutofit/>
          </a:bodyPr>
          <a:lstStyle/>
          <a:p>
            <a:pPr lvl="0">
              <a:lnSpc>
                <a:spcPct val="120000"/>
              </a:lnSpc>
              <a:spcBef>
                <a:spcPts val="0"/>
              </a:spcBef>
              <a:spcAft>
                <a:spcPts val="0"/>
              </a:spcAft>
              <a:buNone/>
              <a:defRPr sz="2000" b="1">
                <a:solidFill>
                  <a:srgbClr val="14213D"/>
                </a:solidFill>
                <a:latin typeface="Arial"/>
              </a:defRPr>
            </a:pPr>
            <a:r>
              <a:rPr lang="en-US" sz="2000" b="1">
                <a:solidFill>
                  <a:srgbClr val="14213D"/>
                </a:solidFill>
                <a:latin typeface="Arial"/>
              </a:rPr>
              <a:t>Thank you · Questions?</a:t>
            </a:r>
          </a:p>
        </p:txBody>
      </p:sp>
      <p:sp>
        <p:nvSpPr>
          <p:cNvPr id="16" name="Kerrian Gordon · Emmanuel De Jesus · Brahim Maoulo">
            <a:extLst>
              <a:ext uri="{FF2B5EF4-FFF2-40B4-BE49-F238E27FC236}">
                <a16:creationId xmlns:a16="http://schemas.microsoft.com/office/drawing/2014/main" id="{7C6CCD04-6688-F21D-E844-1A7334FDC850}"/>
              </a:ext>
            </a:extLst>
          </p:cNvPr>
          <p:cNvSpPr txBox="1"/>
          <p:nvPr/>
        </p:nvSpPr>
        <p:spPr>
          <a:xfrm>
            <a:off x="5499100" y="5232398"/>
            <a:ext cx="5880099" cy="635000"/>
          </a:xfrm>
          <a:prstGeom prst="rect">
            <a:avLst/>
          </a:prstGeom>
          <a:noFill/>
          <a:ln>
            <a:noFill/>
          </a:ln>
        </p:spPr>
        <p:txBody>
          <a:bodyPr lIns="0" tIns="0" rIns="0" bIns="0" anchor="t">
            <a:noAutofit/>
          </a:bodyPr>
          <a:lstStyle/>
          <a:p>
            <a:pPr lvl="0">
              <a:lnSpc>
                <a:spcPct val="120000"/>
              </a:lnSpc>
              <a:spcBef>
                <a:spcPts val="0"/>
              </a:spcBef>
              <a:spcAft>
                <a:spcPts val="0"/>
              </a:spcAft>
              <a:buNone/>
              <a:defRPr sz="1400" b="0">
                <a:solidFill>
                  <a:srgbClr val="4A5568"/>
                </a:solidFill>
                <a:latin typeface="Arial"/>
              </a:defRPr>
            </a:pPr>
            <a:r>
              <a:rPr lang="pt-BR" sz="1400" b="0">
                <a:solidFill>
                  <a:srgbClr val="4A5568"/>
                </a:solidFill>
                <a:latin typeface="Arial"/>
              </a:rPr>
              <a:t>Kerrian Gordon · Emmanuel De Jesus · Brahim Maouloud</a:t>
            </a:r>
          </a:p>
        </p:txBody>
      </p:sp>
    </p:spTree>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1753</Words>
  <Application>Microsoft Office PowerPoint</Application>
  <PresentationFormat>Widescreen</PresentationFormat>
  <Paragraphs>139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Courier New</vt:lpstr>
      <vt:lpstr>Default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Pharmacy Inventory Logistics Agent — Team Presentation</dc:title>
  <dc:description>Ten-slide editable ODP converted from the team HTML presentation, including original French speaker notes.</dc:description>
  <cp:lastModifiedBy>Emmanuel De Jesus</cp:lastModifiedBy>
  <cp:revision>1</cp:revision>
  <dcterms:modified xsi:type="dcterms:W3CDTF">2026-10-13T13:59:40Z</dcterms:modified>
</cp:coreProperties>
</file>